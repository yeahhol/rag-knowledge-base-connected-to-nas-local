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147374464" r:id="rId2"/>
    <p:sldId id="2147374465" r:id="rId3"/>
    <p:sldId id="2147374455" r:id="rId4"/>
    <p:sldId id="2147374457" r:id="rId5"/>
    <p:sldId id="2147374456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用户画像分析" id="{B5C77270-ABDD-44B2-BADB-615DE7665944}">
          <p14:sldIdLst>
            <p14:sldId id="2147374464"/>
            <p14:sldId id="2147374465"/>
            <p14:sldId id="2147374455"/>
            <p14:sldId id="2147374457"/>
            <p14:sldId id="2147374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W" initials="MW" lastIdx="2" clrIdx="0">
    <p:extLst>
      <p:ext uri="{19B8F6BF-5375-455C-9EA6-DF929625EA0E}">
        <p15:presenceInfo xmlns:p15="http://schemas.microsoft.com/office/powerpoint/2012/main" userId="f22542efb641e4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EFB8B0"/>
    <a:srgbClr val="C9685B"/>
    <a:srgbClr val="87281B"/>
    <a:srgbClr val="FBECE9"/>
    <a:srgbClr val="B0483A"/>
    <a:srgbClr val="F9E3DF"/>
    <a:srgbClr val="F6D6D2"/>
    <a:srgbClr val="EBA69D"/>
    <a:srgbClr val="D89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5861" autoAdjust="0"/>
  </p:normalViewPr>
  <p:slideViewPr>
    <p:cSldViewPr snapToGrid="0">
      <p:cViewPr varScale="1">
        <p:scale>
          <a:sx n="87" d="100"/>
          <a:sy n="87" d="100"/>
        </p:scale>
        <p:origin x="668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35486-D7F6-4F9C-8049-72C41D5C8ED4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2AA83-0F5B-4BC9-B5B8-0572B4F71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D0AA-1414-4F60-BC13-870A3892E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4E5C-A5B1-457C-9179-8152EF557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6075F-BCA7-4113-8B82-90A81EF2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77527-29D2-4A1E-B12F-C63A22A8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B9DE6-FCA6-4FAE-9859-44F79DCF4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80A0-917F-48B4-BA60-1B8B26D2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2604C-BA54-4600-A731-C77C5D3C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480C-C1D8-49A9-8ED7-642698BA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CB6E4-FA97-4D6C-A85F-ACFB3EF3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88DF4-CB40-47B3-A208-7A4E6B54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7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1149-9A38-4532-92BE-1D247372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2B9C5-B614-4F3F-96DE-13BF5A8C4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4F95-2352-450C-973C-70EB07C3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F02CE-99C1-49F3-96C6-8E69B2E6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73FB-B683-4991-9F6B-34A132FC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C506-3EC3-466D-B413-F303C8BA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3E06-0607-4059-A7C0-DC10D3987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AF60B-C11A-455F-BB8C-BA3F6A068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FAAFD-E8CB-42D6-989B-75E5F993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26FA6-9ADB-41C1-B458-5E083456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A3E3D-18B0-493A-AC59-366CC329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5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4F60-4CCF-4305-A5D5-FCF3B43F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E9EB6-D396-4D82-A5A0-B77CA90E4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10D99-ADC8-457B-A2C6-23855BC16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53421-5371-4654-9FD9-81C2305C0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DFE3C-1961-41FA-8C51-794253C46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B963E-B720-4E5B-AD06-FBC3440C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846D1-2574-4180-90F8-B6123F18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EB3D5-B2E6-40EC-8FD3-2C560AEB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1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4EA-4165-4B02-BC03-516A6038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C6E18-F14F-4EED-B00C-14A2FBB7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096D5-20FA-48C1-8756-D54E8D06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50F0C-08CC-414D-B6FD-20A0CE50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8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3069D-4B85-4724-A25A-41C9E4F04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43BE4-4429-44A0-8816-FA96A790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AFBD4-99B7-472D-89D1-63395124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9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EFE-FB5C-4B34-9F55-C7D8B3C5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53DF-A90A-4599-9E3F-232006979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9B04D-26FF-406B-AEB7-DFFECD6DB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E4DBA-83E0-4279-A9AA-E741CAE2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4BCC1-7D14-40F8-81A3-B1B175AF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DC418-0915-41D2-872E-BBE498B7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77DB-62B9-43EF-AA3B-04A503DA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F5887-620D-4C8E-817C-5639B2D31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20F8C-C9E5-4E5A-972C-45151D685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17DF4-A4F4-44B5-BB56-12E7C697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D72AF-224E-4BDD-A4D0-32558464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C79D1-66FB-4994-A8A2-12BD26DC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5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B1B9-EF3A-4E99-9D7B-77666167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DD0E2-DE96-47A0-AA5D-327807CB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5702-C7CC-4116-8AB1-6BF1D437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EAD5-FA78-4038-A29C-5931683EB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9C256-FC82-4AEF-9DB6-9D3AD504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3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D1EAD-2250-4D47-969F-35A9B4159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B9E98-DB7A-4655-8753-06D0D449C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F5F3-69FD-4388-BF5D-34AF75D3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13726-1358-4219-9684-8242938D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F834-6297-4268-ABB2-B27DF747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04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8B7ED9BA-6AAE-4523-9D44-5F6FEF4804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6379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18" name="think-cell 幻灯片" r:id="rId4" imgW="470" imgH="469" progId="TCLayout.ActiveDocument.1">
                  <p:embed/>
                </p:oleObj>
              </mc:Choice>
              <mc:Fallback>
                <p:oleObj name="think-cell 幻灯片" r:id="rId4" imgW="470" imgH="469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8B7ED9BA-6AAE-4523-9D44-5F6FEF480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AFE4F1B-013A-4DA9-A635-59F60D50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B3329F-5904-4B2D-853B-36FE5E7814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D1CF50-25F9-4784-ADE2-03C7C399A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747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ShellBold" panose="00000800000000000000" pitchFamily="50" charset="0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508000" y="1528763"/>
            <a:ext cx="11171238" cy="4830761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8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March 2022</a:t>
            </a: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7" name="TextBox 6" descr="CONFIDENTIAL_TAG_0xFFEE">
            <a:extLst>
              <a:ext uri="{FF2B5EF4-FFF2-40B4-BE49-F238E27FC236}">
                <a16:creationId xmlns:a16="http://schemas.microsoft.com/office/drawing/2014/main" id="{0EC8E5CF-C2A6-4F96-B98A-F8515EC828C7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CONFIDENTIAL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85122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1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 hidden="1">
            <a:extLst>
              <a:ext uri="{FF2B5EF4-FFF2-40B4-BE49-F238E27FC236}">
                <a16:creationId xmlns:a16="http://schemas.microsoft.com/office/drawing/2014/main" id="{ACE7DF90-A74F-4D34-9B36-43E8605383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24602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38" name="think-cell 幻灯片" r:id="rId17" imgW="477" imgH="480" progId="TCLayout.ActiveDocument.1">
                  <p:embed/>
                </p:oleObj>
              </mc:Choice>
              <mc:Fallback>
                <p:oleObj name="think-cell 幻灯片" r:id="rId17" imgW="477" imgH="48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25CC76-293A-4E6F-AAE3-D5EA2369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87663-6138-4E55-B560-4CD86E4C5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CA84-96C4-498C-AB66-0F7A98BC6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211E-205E-4011-A1E5-A29B83E292B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5AE2C-3ABE-44D7-AEB1-E0C765523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AE75E-4A4C-402A-B469-117BADA9A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12CC9-1654-4A4C-A2B0-686A3B5D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2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sv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sv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DBBCFCE-B7E6-4CD4-B4B3-D26B00D6E1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83" name="think-cell 幻灯片" r:id="rId4" imgW="416" imgH="416" progId="TCLayout.ActiveDocument.1">
                  <p:embed/>
                </p:oleObj>
              </mc:Choice>
              <mc:Fallback>
                <p:oleObj name="think-cell 幻灯片" r:id="rId4" imgW="416" imgH="41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DBBCFCE-B7E6-4CD4-B4B3-D26B00D6E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6C3DDCE7-C2B7-4952-8777-2ADDB480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95" y="189187"/>
            <a:ext cx="11394459" cy="367862"/>
          </a:xfrm>
        </p:spPr>
        <p:txBody>
          <a:bodyPr vert="horz">
            <a:no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钢铁行业：从区域上看，重点关注江苏、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广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东省内的钢铁企业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产业集群地；从商业模式上来看，在双碳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&amp;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市场化电价背景下，为解决钢企核心用能需求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减碳，通过与中冶系、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Top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钢企等体系内公司成立合资公司，以碳管理业务（计量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CCUS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等）为抓手，为钢企用户提供“零碳解决方案”</a:t>
            </a:r>
            <a:endParaRPr lang="zh-CN" altLang="en-US" sz="1800" b="1" dirty="0"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A8AF2-2528-4269-9958-D32811F915E4}"/>
              </a:ext>
            </a:extLst>
          </p:cNvPr>
          <p:cNvSpPr>
            <a:spLocks/>
          </p:cNvSpPr>
          <p:nvPr/>
        </p:nvSpPr>
        <p:spPr>
          <a:xfrm>
            <a:off x="480874" y="977480"/>
            <a:ext cx="11230253" cy="5513772"/>
          </a:xfrm>
          <a:prstGeom prst="roundRect">
            <a:avLst>
              <a:gd name="adj" fmla="val 1773"/>
            </a:avLst>
          </a:prstGeom>
          <a:noFill/>
          <a:ln w="9525">
            <a:solidFill>
              <a:srgbClr val="C6605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E201826-83E9-429C-B300-9BB48532E193}"/>
              </a:ext>
            </a:extLst>
          </p:cNvPr>
          <p:cNvSpPr/>
          <p:nvPr/>
        </p:nvSpPr>
        <p:spPr>
          <a:xfrm>
            <a:off x="596979" y="813032"/>
            <a:ext cx="312351" cy="311150"/>
          </a:xfrm>
          <a:prstGeom prst="ellipse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1C5A593-1193-4325-BD45-3C0877165C56}"/>
              </a:ext>
            </a:extLst>
          </p:cNvPr>
          <p:cNvSpPr/>
          <p:nvPr/>
        </p:nvSpPr>
        <p:spPr>
          <a:xfrm>
            <a:off x="801947" y="857474"/>
            <a:ext cx="239532" cy="23861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9CD27976-5489-4B47-8A7D-E0ED02597FE8}"/>
              </a:ext>
            </a:extLst>
          </p:cNvPr>
          <p:cNvSpPr>
            <a:spLocks/>
          </p:cNvSpPr>
          <p:nvPr/>
        </p:nvSpPr>
        <p:spPr>
          <a:xfrm>
            <a:off x="10331669" y="5562600"/>
            <a:ext cx="1199377" cy="850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Diamond</a:t>
            </a:r>
            <a:r>
              <a:rPr lang="zh-CN" altLang="en-US" sz="1400" b="1" i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项目</a:t>
            </a:r>
            <a:endParaRPr lang="en-US" altLang="zh-CN" sz="1400" b="1" i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7443F1B-A094-48EA-9437-B9DCD6EB0FF8}"/>
              </a:ext>
            </a:extLst>
          </p:cNvPr>
          <p:cNvSpPr>
            <a:spLocks/>
          </p:cNvSpPr>
          <p:nvPr/>
        </p:nvSpPr>
        <p:spPr>
          <a:xfrm>
            <a:off x="1416397" y="2354317"/>
            <a:ext cx="1442417" cy="3103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1A13CFE-A8BF-4D3D-86D7-FAFE740EA19F}"/>
              </a:ext>
            </a:extLst>
          </p:cNvPr>
          <p:cNvSpPr>
            <a:spLocks/>
          </p:cNvSpPr>
          <p:nvPr/>
        </p:nvSpPr>
        <p:spPr>
          <a:xfrm>
            <a:off x="631825" y="1069285"/>
            <a:ext cx="690866" cy="1190439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重点区域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E9E6B97-66C8-45CA-8DC8-0574CDBC8AAF}"/>
              </a:ext>
            </a:extLst>
          </p:cNvPr>
          <p:cNvSpPr>
            <a:spLocks/>
          </p:cNvSpPr>
          <p:nvPr/>
        </p:nvSpPr>
        <p:spPr>
          <a:xfrm>
            <a:off x="1416396" y="1083284"/>
            <a:ext cx="10082720" cy="892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en-US" altLang="zh-CN" sz="11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Priority 1</a:t>
            </a:r>
            <a:r>
              <a:rPr lang="zh-CN" altLang="en-US" sz="11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11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江苏：连云港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（三大钢铁公司，连云港兴鑫钢铁有限公司、江苏省镔鑫钢铁集团、连云港亚新钢铁有限公司）；南通（中小型钢铁企业集群）；盐城（盐城市联鑫钢铁有限公司、江苏德龙镍业有限公司）；南京（南京钢铁）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82563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广东：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韶关（宝钢集团中南钢铁有限公司、韶关市宏德热轧带钢有限公司、广东粤韶钢铁有限公司）；湛江（依托宝钢湛江钢铁，十四五期间打造钢铁产业集群）；阳江（阳春新钢铁有限公司、阳江市广阳不锈钢有限公司）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C0109AF-C97E-461A-8CAF-D23F6133057A}"/>
              </a:ext>
            </a:extLst>
          </p:cNvPr>
          <p:cNvSpPr txBox="1">
            <a:spLocks/>
          </p:cNvSpPr>
          <p:nvPr/>
        </p:nvSpPr>
        <p:spPr>
          <a:xfrm>
            <a:off x="1416397" y="2035857"/>
            <a:ext cx="10082720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latin typeface="华文楷体" panose="02010600040101010101" pitchFamily="2" charset="-122"/>
                <a:ea typeface="华文楷体" panose="02010600040101010101" pitchFamily="2" charset="-122"/>
              </a:rPr>
              <a:t>Priority 2</a:t>
            </a:r>
            <a:r>
              <a:rPr lang="zh-CN" altLang="en-US" sz="1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山东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（莱芜、日照）、辽宁（鞍山、本溪）、山西（太原、大同）</a:t>
            </a:r>
            <a:endParaRPr lang="en-US" altLang="zh-CN" sz="1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AAA065-98E5-4A47-BF9D-C3C1086CB77D}"/>
              </a:ext>
            </a:extLst>
          </p:cNvPr>
          <p:cNvSpPr>
            <a:spLocks/>
          </p:cNvSpPr>
          <p:nvPr/>
        </p:nvSpPr>
        <p:spPr>
          <a:xfrm>
            <a:off x="631825" y="5562600"/>
            <a:ext cx="690866" cy="850900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商业模式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8EAA23F6-0DFD-4705-80B5-4A828CADA42C}"/>
              </a:ext>
            </a:extLst>
          </p:cNvPr>
          <p:cNvSpPr>
            <a:spLocks/>
          </p:cNvSpPr>
          <p:nvPr/>
        </p:nvSpPr>
        <p:spPr>
          <a:xfrm>
            <a:off x="1416397" y="5562600"/>
            <a:ext cx="1442417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产品</a:t>
            </a:r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6E620DA-56BC-4C96-A294-D1E7AF1EEE13}"/>
              </a:ext>
            </a:extLst>
          </p:cNvPr>
          <p:cNvSpPr>
            <a:spLocks/>
          </p:cNvSpPr>
          <p:nvPr/>
        </p:nvSpPr>
        <p:spPr>
          <a:xfrm>
            <a:off x="3195145" y="5562600"/>
            <a:ext cx="7062952" cy="402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“零碳解决方案”：基于分布式光伏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售电（含绿电）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碳管理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绿氢业务，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以“碳”为核心，为用户提供碳管理（碳计量、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CCUS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等），售电合同优化（含绿电）、绿氢等服务，同时在轧钢厂、成品库房等厂房屋顶提供分布式光伏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47DCEC5-C225-47D6-BAA2-BC959A39DFDB}"/>
              </a:ext>
            </a:extLst>
          </p:cNvPr>
          <p:cNvSpPr>
            <a:spLocks/>
          </p:cNvSpPr>
          <p:nvPr/>
        </p:nvSpPr>
        <p:spPr>
          <a:xfrm>
            <a:off x="1416397" y="6030127"/>
            <a:ext cx="1442417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模式</a:t>
            </a:r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0CA800C-1BF1-4C44-B8B2-AA1272CDD57C}"/>
              </a:ext>
            </a:extLst>
          </p:cNvPr>
          <p:cNvSpPr>
            <a:spLocks/>
          </p:cNvSpPr>
          <p:nvPr/>
        </p:nvSpPr>
        <p:spPr>
          <a:xfrm>
            <a:off x="3195145" y="6030127"/>
            <a:ext cx="7062952" cy="402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自建碳管理业务，可与体系内公司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如中冶赛迪、宝钢新能源（隶属宝钢集团）成立合资公司，利用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Shell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碳能力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制氢能力，结合体系内行业资源切入中小型钢企业务，为其提供“零碳解决方案”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C530B27-CF01-4F2B-97EE-120FF1F3F0B9}"/>
              </a:ext>
            </a:extLst>
          </p:cNvPr>
          <p:cNvSpPr>
            <a:spLocks/>
          </p:cNvSpPr>
          <p:nvPr/>
        </p:nvSpPr>
        <p:spPr>
          <a:xfrm>
            <a:off x="631825" y="2341107"/>
            <a:ext cx="690866" cy="3097667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用户画像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B50A214-D0CF-458C-AED4-BF9D0827D867}"/>
              </a:ext>
            </a:extLst>
          </p:cNvPr>
          <p:cNvSpPr>
            <a:spLocks/>
          </p:cNvSpPr>
          <p:nvPr/>
        </p:nvSpPr>
        <p:spPr>
          <a:xfrm>
            <a:off x="3195145" y="2354316"/>
            <a:ext cx="8303972" cy="190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行业特征：</a:t>
            </a:r>
            <a:endParaRPr lang="en-US" altLang="zh-CN" sz="10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行业集中度较高：钢铁行业年产能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~12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亿吨，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Top10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企业年产能均≥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万吨，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CR5~25.6%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CR5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达到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40%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（工信部）；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用电量大：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年行业年用电量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5950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亿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kWh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，规模以上企业年均用电量＞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8000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kWh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，主要集中在焦化、炼钢、轧钢环节；以一条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万吨产能的标准生产线为例，其全厂负荷总容量约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300MW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左右；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电费敏感度低：电费占总生产成本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以内，冶金企业一般对于用电成本关注度较低，但目前存在绿电购买难度高问题；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供电稳定性要求高：连续生产作业，停机损失较大（单次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~800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万），同时钢铁行业生产过程涉及钢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铁水转移、煤气净化等环节，安全隐患较高，因此一般为双路供电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备用柴发机组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不间断电源，保障供电；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服务生态较为封闭：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EPC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以中冶系八大设计院为主，部分冶金头部企业子公司为辅；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Top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企业多自投分布式，中小型钢企仍以炼钢为主业，一般不自投分布式，对第三方光伏投资运营商开放程度较高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碳排压力大：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行业碳排占全国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（制造业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1st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年前钢铁行业碳达峰，到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2030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年，钢铁行业碳排较峰值降低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30%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（碳减排量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4.2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亿吨）；</a:t>
            </a:r>
            <a:endParaRPr lang="en-US" altLang="zh-CN" sz="10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2101161-62D5-418A-B0E3-FDB2440B1C74}"/>
              </a:ext>
            </a:extLst>
          </p:cNvPr>
          <p:cNvSpPr>
            <a:spLocks/>
          </p:cNvSpPr>
          <p:nvPr/>
        </p:nvSpPr>
        <p:spPr>
          <a:xfrm>
            <a:off x="3195145" y="4340772"/>
            <a:ext cx="8303972" cy="11170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用能核心需求：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减碳重要主体，钢铁企业以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减碳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为核心需求；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主要措施：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19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布局短流程炼钢，并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发展氢冶金（绿氢：电解水制氢）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等先进工艺实现减碳，预计在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年之后进入商业化初期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19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促进“绿电发展”：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）以宝钢为例，集团层面在部分分厂（轧钢厂、成品库等）试点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分布式光伏（实际有效利用面积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~20%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，主要满足厂房内的辅助设施如照明、安防等，但远不能满足生产工艺设备用电需求；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）购买绿电；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19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结合负荷曲线，利用储能削峰填谷（目前应用项目较少）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BA09A21-A930-4FBC-8FA8-1E626B851113}"/>
              </a:ext>
            </a:extLst>
          </p:cNvPr>
          <p:cNvGrpSpPr>
            <a:grpSpLocks/>
          </p:cNvGrpSpPr>
          <p:nvPr/>
        </p:nvGrpSpPr>
        <p:grpSpPr>
          <a:xfrm>
            <a:off x="1240222" y="3247907"/>
            <a:ext cx="1807778" cy="1316329"/>
            <a:chOff x="630988" y="1980775"/>
            <a:chExt cx="4032741" cy="1719209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D15D60A0-37B4-4805-8BF7-EE862B9B8B6E}"/>
                </a:ext>
              </a:extLst>
            </p:cNvPr>
            <p:cNvSpPr txBox="1"/>
            <p:nvPr/>
          </p:nvSpPr>
          <p:spPr>
            <a:xfrm>
              <a:off x="630988" y="1980775"/>
              <a:ext cx="3963215" cy="3300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u="sng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行业日内用电负荷区间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06A1597-2677-4378-8CD9-7F8689DF21B0}"/>
                </a:ext>
              </a:extLst>
            </p:cNvPr>
            <p:cNvGrpSpPr/>
            <p:nvPr/>
          </p:nvGrpSpPr>
          <p:grpSpPr>
            <a:xfrm>
              <a:off x="677340" y="2323211"/>
              <a:ext cx="3986389" cy="1376773"/>
              <a:chOff x="725456" y="2630882"/>
              <a:chExt cx="2607167" cy="1376773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026D13F-F82B-424F-8DA7-72EC93A8A8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9907" y="2735726"/>
                <a:ext cx="1878246" cy="10058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2E22C46-1BB8-4ACD-9349-CF2BCB4902DE}"/>
                  </a:ext>
                </a:extLst>
              </p:cNvPr>
              <p:cNvSpPr/>
              <p:nvPr/>
            </p:nvSpPr>
            <p:spPr>
              <a:xfrm>
                <a:off x="1162217" y="3029703"/>
                <a:ext cx="1706150" cy="459137"/>
              </a:xfrm>
              <a:custGeom>
                <a:avLst/>
                <a:gdLst>
                  <a:gd name="connsiteX0" fmla="*/ 0 w 4716379"/>
                  <a:gd name="connsiteY0" fmla="*/ 1530416 h 1530416"/>
                  <a:gd name="connsiteX1" fmla="*/ 211755 w 4716379"/>
                  <a:gd name="connsiteY1" fmla="*/ 356134 h 1530416"/>
                  <a:gd name="connsiteX2" fmla="*/ 385010 w 4716379"/>
                  <a:gd name="connsiteY2" fmla="*/ 192505 h 1530416"/>
                  <a:gd name="connsiteX3" fmla="*/ 577515 w 4716379"/>
                  <a:gd name="connsiteY3" fmla="*/ 1193532 h 1530416"/>
                  <a:gd name="connsiteX4" fmla="*/ 789271 w 4716379"/>
                  <a:gd name="connsiteY4" fmla="*/ 57751 h 1530416"/>
                  <a:gd name="connsiteX5" fmla="*/ 991402 w 4716379"/>
                  <a:gd name="connsiteY5" fmla="*/ 298383 h 1530416"/>
                  <a:gd name="connsiteX6" fmla="*/ 1174282 w 4716379"/>
                  <a:gd name="connsiteY6" fmla="*/ 1357162 h 1530416"/>
                  <a:gd name="connsiteX7" fmla="*/ 1386038 w 4716379"/>
                  <a:gd name="connsiteY7" fmla="*/ 279132 h 1530416"/>
                  <a:gd name="connsiteX8" fmla="*/ 1568918 w 4716379"/>
                  <a:gd name="connsiteY8" fmla="*/ 67376 h 1530416"/>
                  <a:gd name="connsiteX9" fmla="*/ 1886551 w 4716379"/>
                  <a:gd name="connsiteY9" fmla="*/ 375385 h 1530416"/>
                  <a:gd name="connsiteX10" fmla="*/ 2088682 w 4716379"/>
                  <a:gd name="connsiteY10" fmla="*/ 1366787 h 1530416"/>
                  <a:gd name="connsiteX11" fmla="*/ 2271562 w 4716379"/>
                  <a:gd name="connsiteY11" fmla="*/ 182880 h 1530416"/>
                  <a:gd name="connsiteX12" fmla="*/ 2473692 w 4716379"/>
                  <a:gd name="connsiteY12" fmla="*/ 1347536 h 1530416"/>
                  <a:gd name="connsiteX13" fmla="*/ 2675823 w 4716379"/>
                  <a:gd name="connsiteY13" fmla="*/ 558265 h 1530416"/>
                  <a:gd name="connsiteX14" fmla="*/ 2906829 w 4716379"/>
                  <a:gd name="connsiteY14" fmla="*/ 336884 h 1530416"/>
                  <a:gd name="connsiteX15" fmla="*/ 3137835 w 4716379"/>
                  <a:gd name="connsiteY15" fmla="*/ 1212783 h 1530416"/>
                  <a:gd name="connsiteX16" fmla="*/ 3301465 w 4716379"/>
                  <a:gd name="connsiteY16" fmla="*/ 972151 h 1530416"/>
                  <a:gd name="connsiteX17" fmla="*/ 3513221 w 4716379"/>
                  <a:gd name="connsiteY17" fmla="*/ 0 h 1530416"/>
                  <a:gd name="connsiteX18" fmla="*/ 3715351 w 4716379"/>
                  <a:gd name="connsiteY18" fmla="*/ 1222408 h 1530416"/>
                  <a:gd name="connsiteX19" fmla="*/ 3907856 w 4716379"/>
                  <a:gd name="connsiteY19" fmla="*/ 288757 h 1530416"/>
                  <a:gd name="connsiteX20" fmla="*/ 4273616 w 4716379"/>
                  <a:gd name="connsiteY20" fmla="*/ 269507 h 1530416"/>
                  <a:gd name="connsiteX21" fmla="*/ 4456496 w 4716379"/>
                  <a:gd name="connsiteY21" fmla="*/ 77002 h 1530416"/>
                  <a:gd name="connsiteX22" fmla="*/ 4716379 w 4716379"/>
                  <a:gd name="connsiteY22" fmla="*/ 1405288 h 1530416"/>
                  <a:gd name="connsiteX23" fmla="*/ 4716379 w 4716379"/>
                  <a:gd name="connsiteY23" fmla="*/ 1386037 h 1530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16379" h="1530416">
                    <a:moveTo>
                      <a:pt x="0" y="1530416"/>
                    </a:moveTo>
                    <a:lnTo>
                      <a:pt x="211755" y="356134"/>
                    </a:lnTo>
                    <a:lnTo>
                      <a:pt x="385010" y="192505"/>
                    </a:lnTo>
                    <a:lnTo>
                      <a:pt x="577515" y="1193532"/>
                    </a:lnTo>
                    <a:lnTo>
                      <a:pt x="789271" y="57751"/>
                    </a:lnTo>
                    <a:lnTo>
                      <a:pt x="991402" y="298383"/>
                    </a:lnTo>
                    <a:lnTo>
                      <a:pt x="1174282" y="1357162"/>
                    </a:lnTo>
                    <a:lnTo>
                      <a:pt x="1386038" y="279132"/>
                    </a:lnTo>
                    <a:lnTo>
                      <a:pt x="1568918" y="67376"/>
                    </a:lnTo>
                    <a:lnTo>
                      <a:pt x="1886551" y="375385"/>
                    </a:lnTo>
                    <a:lnTo>
                      <a:pt x="2088682" y="1366787"/>
                    </a:lnTo>
                    <a:lnTo>
                      <a:pt x="2271562" y="182880"/>
                    </a:lnTo>
                    <a:lnTo>
                      <a:pt x="2473692" y="1347536"/>
                    </a:lnTo>
                    <a:lnTo>
                      <a:pt x="2675823" y="558265"/>
                    </a:lnTo>
                    <a:lnTo>
                      <a:pt x="2906829" y="336884"/>
                    </a:lnTo>
                    <a:lnTo>
                      <a:pt x="3137835" y="1212783"/>
                    </a:lnTo>
                    <a:lnTo>
                      <a:pt x="3301465" y="972151"/>
                    </a:lnTo>
                    <a:lnTo>
                      <a:pt x="3513221" y="0"/>
                    </a:lnTo>
                    <a:lnTo>
                      <a:pt x="3715351" y="1222408"/>
                    </a:lnTo>
                    <a:lnTo>
                      <a:pt x="3907856" y="288757"/>
                    </a:lnTo>
                    <a:lnTo>
                      <a:pt x="4273616" y="269507"/>
                    </a:lnTo>
                    <a:lnTo>
                      <a:pt x="4456496" y="77002"/>
                    </a:lnTo>
                    <a:lnTo>
                      <a:pt x="4716379" y="1405288"/>
                    </a:lnTo>
                    <a:lnTo>
                      <a:pt x="4716379" y="1386037"/>
                    </a:lnTo>
                  </a:path>
                </a:pathLst>
              </a:custGeom>
              <a:noFill/>
              <a:ln>
                <a:solidFill>
                  <a:srgbClr val="C660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>
                  <a:latin typeface="Century Gothic" panose="020B0502020202020204" pitchFamily="34" charset="0"/>
                </a:endParaRPr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6C481FA2-D4A0-47C6-A2A6-D93ACAF631B0}"/>
                  </a:ext>
                </a:extLst>
              </p:cNvPr>
              <p:cNvGrpSpPr/>
              <p:nvPr/>
            </p:nvGrpSpPr>
            <p:grpSpPr>
              <a:xfrm>
                <a:off x="1103024" y="2792915"/>
                <a:ext cx="1782752" cy="958701"/>
                <a:chOff x="3407343" y="2156059"/>
                <a:chExt cx="4928135" cy="3195587"/>
              </a:xfrm>
            </p:grpSpPr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8BB759AD-942A-4CB9-9E02-0BBA457DDC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07343" y="4908884"/>
                  <a:ext cx="4918510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172DCF25-CF2D-499E-A810-777C697EE3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16968" y="3888606"/>
                  <a:ext cx="4918510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84629971-2D47-47C7-9C94-D4F6576E1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07343" y="2926080"/>
                  <a:ext cx="4918510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46C64B49-7D28-420C-99FE-A1388CF336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61348" y="2156059"/>
                  <a:ext cx="0" cy="319558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A9863953-869B-4D54-BA21-13A66A831D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4132" y="2156059"/>
                  <a:ext cx="0" cy="319558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8A9A77F4-F6EE-4941-AB1F-F26675749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25853" y="2156059"/>
                  <a:ext cx="0" cy="319558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4BE28C07-07D3-444B-B684-666DDF9BAC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05576" y="2156059"/>
                  <a:ext cx="0" cy="319558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754D2185-90DA-4141-B50F-6ED855CD4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44667" y="2156059"/>
                  <a:ext cx="0" cy="319558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F2597F9-6BAF-4F91-BE67-09BC5324AE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9769" y="3718830"/>
                <a:ext cx="6480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0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  <a:sym typeface="Wingdings" panose="05000000000000000000" pitchFamily="2" charset="2"/>
                  </a:rPr>
                  <a:t>:00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3312027-FA49-44C2-A294-E3F8132194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7207" y="3718830"/>
                <a:ext cx="6480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6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  <a:sym typeface="Wingdings" panose="05000000000000000000" pitchFamily="2" charset="2"/>
                  </a:rPr>
                  <a:t>:00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918B17E-9A22-40F7-8B0C-9966A31F15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9489" y="3718830"/>
                <a:ext cx="648038" cy="222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12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  <a:sym typeface="Wingdings" panose="05000000000000000000" pitchFamily="2" charset="2"/>
                  </a:rPr>
                  <a:t>:00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42814B8-0F70-46FC-A891-4334C14236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90481" y="3718827"/>
                <a:ext cx="648038" cy="288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18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  <a:sym typeface="Wingdings" panose="05000000000000000000" pitchFamily="2" charset="2"/>
                  </a:rPr>
                  <a:t>:00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A482ECC-E289-4C5F-A59C-F3E966DB4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5888" y="3718829"/>
                <a:ext cx="666735" cy="288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23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  <a:sym typeface="Wingdings" panose="05000000000000000000" pitchFamily="2" charset="2"/>
                  </a:rPr>
                  <a:t>:00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0F560F1-0303-42E3-A173-6E010B5FFCD2}"/>
                  </a:ext>
                </a:extLst>
              </p:cNvPr>
              <p:cNvSpPr txBox="1"/>
              <p:nvPr/>
            </p:nvSpPr>
            <p:spPr>
              <a:xfrm>
                <a:off x="754490" y="3438125"/>
                <a:ext cx="5318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220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F9B6D725-7911-468A-9532-A6D5CA2FDF5B}"/>
                  </a:ext>
                </a:extLst>
              </p:cNvPr>
              <p:cNvSpPr txBox="1"/>
              <p:nvPr/>
            </p:nvSpPr>
            <p:spPr>
              <a:xfrm>
                <a:off x="754490" y="3143872"/>
                <a:ext cx="5318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240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3FBC8A9-2399-4B77-9B0B-5E69A0205F59}"/>
                  </a:ext>
                </a:extLst>
              </p:cNvPr>
              <p:cNvSpPr txBox="1"/>
              <p:nvPr/>
            </p:nvSpPr>
            <p:spPr>
              <a:xfrm>
                <a:off x="754490" y="2874864"/>
                <a:ext cx="531812" cy="288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260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B0487DD-CE00-4FEC-8AF9-3D3FCDD24FE8}"/>
                  </a:ext>
                </a:extLst>
              </p:cNvPr>
              <p:cNvSpPr txBox="1"/>
              <p:nvPr/>
            </p:nvSpPr>
            <p:spPr>
              <a:xfrm>
                <a:off x="725456" y="2630882"/>
                <a:ext cx="1030743" cy="288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负荷</a:t>
                </a:r>
                <a:r>
                  <a:rPr lang="en-US" altLang="zh-CN" sz="800" dirty="0">
                    <a:latin typeface="Century Gothic" panose="020B0502020202020204" pitchFamily="34" charset="0"/>
                    <a:ea typeface="华文楷体" panose="02010600040101010101" pitchFamily="2" charset="-122"/>
                  </a:rPr>
                  <a:t>/MW</a:t>
                </a:r>
                <a:endPara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63" name="箭头: 右 62">
            <a:extLst>
              <a:ext uri="{FF2B5EF4-FFF2-40B4-BE49-F238E27FC236}">
                <a16:creationId xmlns:a16="http://schemas.microsoft.com/office/drawing/2014/main" id="{F0AF4429-6DB9-4B39-89E3-D61D3201D3F8}"/>
              </a:ext>
            </a:extLst>
          </p:cNvPr>
          <p:cNvSpPr/>
          <p:nvPr/>
        </p:nvSpPr>
        <p:spPr>
          <a:xfrm>
            <a:off x="2942897" y="2581768"/>
            <a:ext cx="147144" cy="2648607"/>
          </a:xfrm>
          <a:prstGeom prst="rightArrow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26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DBBCFCE-B7E6-4CD4-B4B3-D26B00D6E1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07" name="think-cell 幻灯片" r:id="rId4" imgW="416" imgH="416" progId="TCLayout.ActiveDocument.1">
                  <p:embed/>
                </p:oleObj>
              </mc:Choice>
              <mc:Fallback>
                <p:oleObj name="think-cell 幻灯片" r:id="rId4" imgW="416" imgH="41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DBBCFCE-B7E6-4CD4-B4B3-D26B00D6E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6C3DDCE7-C2B7-4952-8777-2ADDB480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95" y="189187"/>
            <a:ext cx="11394459" cy="367862"/>
          </a:xfrm>
        </p:spPr>
        <p:txBody>
          <a:bodyPr vert="horz">
            <a:no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纺织行业：从区域上看，重点关注浙江、江苏、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广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东省内的纺织企业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产业园区；从商业模式上来看，在数字化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&amp;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能耗双控背景下，可为用户提供集分布式能源</a:t>
            </a:r>
            <a:r>
              <a:rPr lang="zh-CN" altLang="en-US" sz="1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（光伏</a:t>
            </a:r>
            <a:r>
              <a:rPr lang="en-US" altLang="zh-CN" sz="1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三联供）</a:t>
            </a:r>
            <a:r>
              <a:rPr lang="en-US" altLang="zh-CN" sz="18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en-US" altLang="zh-CN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EMS+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售电</a:t>
            </a:r>
            <a:r>
              <a:rPr lang="en-US" altLang="zh-CN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碳管理一体的“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数字化能源服务”</a:t>
            </a:r>
            <a:endParaRPr lang="zh-CN" altLang="en-US" sz="1800" b="1" dirty="0"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A8AF2-2528-4269-9958-D32811F915E4}"/>
              </a:ext>
            </a:extLst>
          </p:cNvPr>
          <p:cNvSpPr>
            <a:spLocks/>
          </p:cNvSpPr>
          <p:nvPr/>
        </p:nvSpPr>
        <p:spPr>
          <a:xfrm>
            <a:off x="480874" y="977480"/>
            <a:ext cx="11230253" cy="5513772"/>
          </a:xfrm>
          <a:prstGeom prst="roundRect">
            <a:avLst>
              <a:gd name="adj" fmla="val 1773"/>
            </a:avLst>
          </a:prstGeom>
          <a:noFill/>
          <a:ln w="9525">
            <a:solidFill>
              <a:srgbClr val="C6605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E201826-83E9-429C-B300-9BB48532E193}"/>
              </a:ext>
            </a:extLst>
          </p:cNvPr>
          <p:cNvSpPr/>
          <p:nvPr/>
        </p:nvSpPr>
        <p:spPr>
          <a:xfrm>
            <a:off x="596979" y="813032"/>
            <a:ext cx="312351" cy="311150"/>
          </a:xfrm>
          <a:prstGeom prst="ellipse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1C5A593-1193-4325-BD45-3C0877165C56}"/>
              </a:ext>
            </a:extLst>
          </p:cNvPr>
          <p:cNvSpPr/>
          <p:nvPr/>
        </p:nvSpPr>
        <p:spPr>
          <a:xfrm>
            <a:off x="801947" y="857474"/>
            <a:ext cx="239532" cy="23861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1A13CFE-A8BF-4D3D-86D7-FAFE740EA19F}"/>
              </a:ext>
            </a:extLst>
          </p:cNvPr>
          <p:cNvSpPr>
            <a:spLocks/>
          </p:cNvSpPr>
          <p:nvPr/>
        </p:nvSpPr>
        <p:spPr>
          <a:xfrm>
            <a:off x="631825" y="1069286"/>
            <a:ext cx="690866" cy="1190438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重点区域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E9E6B97-66C8-45CA-8DC8-0574CDBC8AAF}"/>
              </a:ext>
            </a:extLst>
          </p:cNvPr>
          <p:cNvSpPr>
            <a:spLocks/>
          </p:cNvSpPr>
          <p:nvPr/>
        </p:nvSpPr>
        <p:spPr>
          <a:xfrm>
            <a:off x="1476958" y="1083284"/>
            <a:ext cx="10054093" cy="871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en-US" altLang="zh-CN" sz="11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Priority 1</a:t>
            </a:r>
            <a:r>
              <a:rPr lang="zh-CN" altLang="en-US" sz="11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11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浙江：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绍兴（全国规模最大的纺织产业集群地，覆盖全产业链）、海宁市许村镇（全国规模最大的家纺布艺产销基地）、嘉兴市秀州区王江泾镇（织造、化纤、印染、服装生产等现代纺织产业集群）、金华市兰溪（棉纺织精加工基地）等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江苏：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苏州市吴江区（麻纺产业集群）、沭阳县（纺织产业集群）、江阴市（中国纺织产业基地）、张家口市（中国棉纺产业基地市）等；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广东：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佛山市南海区（纺织面料生产集聚基地）、中山市沙溪镇（全产业链配套生产基地）等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C0109AF-C97E-461A-8CAF-D23F6133057A}"/>
              </a:ext>
            </a:extLst>
          </p:cNvPr>
          <p:cNvSpPr txBox="1">
            <a:spLocks/>
          </p:cNvSpPr>
          <p:nvPr/>
        </p:nvSpPr>
        <p:spPr>
          <a:xfrm>
            <a:off x="1476958" y="2025349"/>
            <a:ext cx="10054092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latin typeface="华文楷体" panose="02010600040101010101" pitchFamily="2" charset="-122"/>
                <a:ea typeface="华文楷体" panose="02010600040101010101" pitchFamily="2" charset="-122"/>
              </a:rPr>
              <a:t>Priority 2</a:t>
            </a:r>
            <a:r>
              <a:rPr lang="zh-CN" altLang="en-US" sz="1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湖北（武汉：主要棉纺织工业基地，靠近原材料产地）、福建（晋江市、长乐市、永安市）、安徽（望江县）、山东（淄博、滨州）、河南省（夏邑县、太康县）等</a:t>
            </a:r>
            <a:endParaRPr lang="en-US" altLang="zh-CN" sz="1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AAA065-98E5-4A47-BF9D-C3C1086CB77D}"/>
              </a:ext>
            </a:extLst>
          </p:cNvPr>
          <p:cNvSpPr>
            <a:spLocks/>
          </p:cNvSpPr>
          <p:nvPr/>
        </p:nvSpPr>
        <p:spPr>
          <a:xfrm>
            <a:off x="631825" y="5562600"/>
            <a:ext cx="690866" cy="850900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商业模式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8EAA23F6-0DFD-4705-80B5-4A828CADA42C}"/>
              </a:ext>
            </a:extLst>
          </p:cNvPr>
          <p:cNvSpPr>
            <a:spLocks/>
          </p:cNvSpPr>
          <p:nvPr/>
        </p:nvSpPr>
        <p:spPr>
          <a:xfrm>
            <a:off x="1382363" y="5562600"/>
            <a:ext cx="1465612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产品</a:t>
            </a:r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47DCEC5-C225-47D6-BAA2-BC959A39DFDB}"/>
              </a:ext>
            </a:extLst>
          </p:cNvPr>
          <p:cNvSpPr>
            <a:spLocks/>
          </p:cNvSpPr>
          <p:nvPr/>
        </p:nvSpPr>
        <p:spPr>
          <a:xfrm>
            <a:off x="1382363" y="6030127"/>
            <a:ext cx="1465612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模式</a:t>
            </a:r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552A59-2BA1-4AEE-A574-AB15B1C8642B}"/>
              </a:ext>
            </a:extLst>
          </p:cNvPr>
          <p:cNvSpPr>
            <a:spLocks/>
          </p:cNvSpPr>
          <p:nvPr/>
        </p:nvSpPr>
        <p:spPr>
          <a:xfrm>
            <a:off x="1392873" y="2378588"/>
            <a:ext cx="1465612" cy="3079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C530B27-CF01-4F2B-97EE-120FF1F3F0B9}"/>
              </a:ext>
            </a:extLst>
          </p:cNvPr>
          <p:cNvSpPr>
            <a:spLocks/>
          </p:cNvSpPr>
          <p:nvPr/>
        </p:nvSpPr>
        <p:spPr>
          <a:xfrm>
            <a:off x="631825" y="2364664"/>
            <a:ext cx="690866" cy="3073278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用户画像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B50A214-D0CF-458C-AED4-BF9D0827D867}"/>
              </a:ext>
            </a:extLst>
          </p:cNvPr>
          <p:cNvSpPr>
            <a:spLocks/>
          </p:cNvSpPr>
          <p:nvPr/>
        </p:nvSpPr>
        <p:spPr>
          <a:xfrm>
            <a:off x="3174124" y="2364668"/>
            <a:ext cx="8356926" cy="20706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行业特征：</a:t>
            </a:r>
            <a:endParaRPr lang="en-US" altLang="zh-CN" sz="10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行业集中度高：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CR5~45.7%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能耗高：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年行业总用电量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~1546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亿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kWh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，为轻工业中用电量最高的行业，单个企业年均用电量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kWh 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）纺织行业是仅次于石化产业全球第二大高污染行业，平均每吨染色的织物需要消耗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吨淡水、几千种化学物质和大量能耗；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电费敏感度高：纺织业属于成本敏感、劳动密集型产业，电费占总生产成本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~9%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，纺织企业一般对于用电成本关注度较高；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数字化水平低：不同车间、工段的能耗数据监测和统计效率、准确度较低；纺织行业目前已被工信部列为第二批“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5G+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工业互联网” 五大重点行业之一；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服务生态较为开放：纺织企业一般为轻资产运营，不足以自建光伏，且行业服务生态较为开放，目前多数项目由第三方光伏投资运营商投建；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14325" indent="-22860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能耗双控压力大：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）纺织企业多分布在浙江、江苏等地区，而纺织业被纳入浙江省八大高耗能行业、江苏省七大高耗能行业，因此受能耗双控影响较大；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纺织“十四五”纲要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指出到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2025 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年要求纺织行业单位工业增加值能源消耗、二氧化碳排放量分别降低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13.5%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18%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2101161-62D5-418A-B0E3-FDB2440B1C74}"/>
              </a:ext>
            </a:extLst>
          </p:cNvPr>
          <p:cNvSpPr>
            <a:spLocks/>
          </p:cNvSpPr>
          <p:nvPr/>
        </p:nvSpPr>
        <p:spPr>
          <a:xfrm>
            <a:off x="3174999" y="4498427"/>
            <a:ext cx="8346523" cy="959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用能核心需求：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以降低用能成本、保障连续生产、提高用能数字化水平为主要出发点；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主要措施：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19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生产过程数字化：如中国电信纺织行业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5G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定制网赋能纺织企业数字化转型，目前已在福建、江苏等产业集群聚集地开展一批试点业务；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19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租赁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购买柴油发电机组：为应对限电措施，部分中小型纺织企业有租赁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购买柴发的需求；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7169A7C3-CD4A-49EA-B1D8-6BB1B26D76F9}"/>
              </a:ext>
            </a:extLst>
          </p:cNvPr>
          <p:cNvSpPr/>
          <p:nvPr/>
        </p:nvSpPr>
        <p:spPr>
          <a:xfrm>
            <a:off x="2942897" y="2658720"/>
            <a:ext cx="147144" cy="2741487"/>
          </a:xfrm>
          <a:prstGeom prst="rightArrow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DC70DE4-7303-49F9-B0F8-495A171EABA5}"/>
              </a:ext>
            </a:extLst>
          </p:cNvPr>
          <p:cNvSpPr>
            <a:spLocks/>
          </p:cNvSpPr>
          <p:nvPr/>
        </p:nvSpPr>
        <p:spPr>
          <a:xfrm>
            <a:off x="3195145" y="5562600"/>
            <a:ext cx="8326377" cy="402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“数字化能源服务”：基于分布式能源（光伏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冷热电三联供机组）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+EMS 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售电（含绿电）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碳管理的软硬件一体化的综合能源服务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95F0BD4-C176-4115-B03E-5D0EAC740F24}"/>
              </a:ext>
            </a:extLst>
          </p:cNvPr>
          <p:cNvSpPr>
            <a:spLocks/>
          </p:cNvSpPr>
          <p:nvPr/>
        </p:nvSpPr>
        <p:spPr>
          <a:xfrm>
            <a:off x="3195145" y="6030127"/>
            <a:ext cx="8326377" cy="402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可与三联供机组供应商达成战略合作，利用</a:t>
            </a:r>
            <a:r>
              <a: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Shell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自建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EMS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、碳管理、分布式光伏能力，与大型纺织厂</a:t>
            </a:r>
            <a:r>
              <a:rPr lang="en-US" altLang="zh-CN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纺织产业园区业主合作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，为用户提供“</a:t>
            </a:r>
            <a:r>
              <a:rPr lang="zh-CN" altLang="en-US" sz="10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数字化能源服务</a:t>
            </a:r>
            <a:r>
              <a:rPr lang="zh-CN" altLang="en-US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endParaRPr lang="en-US" altLang="zh-CN" sz="1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53DBEF1-B895-43D8-B71D-8D4871C69B50}"/>
              </a:ext>
            </a:extLst>
          </p:cNvPr>
          <p:cNvGrpSpPr/>
          <p:nvPr/>
        </p:nvGrpSpPr>
        <p:grpSpPr>
          <a:xfrm>
            <a:off x="1235945" y="3264126"/>
            <a:ext cx="1807778" cy="1316329"/>
            <a:chOff x="2876517" y="2458635"/>
            <a:chExt cx="1807778" cy="1316329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F1F6A47-099A-407F-81E7-BF4A1081377D}"/>
                </a:ext>
              </a:extLst>
            </p:cNvPr>
            <p:cNvSpPr txBox="1"/>
            <p:nvPr/>
          </p:nvSpPr>
          <p:spPr>
            <a:xfrm>
              <a:off x="2876517" y="2458635"/>
              <a:ext cx="1776611" cy="252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u="sng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行业日内用电负荷区间</a:t>
              </a: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531C110-84A4-4EC6-B052-AEE7B4F52A42}"/>
                </a:ext>
              </a:extLst>
            </p:cNvPr>
            <p:cNvSpPr>
              <a:spLocks/>
            </p:cNvSpPr>
            <p:nvPr/>
          </p:nvSpPr>
          <p:spPr>
            <a:xfrm>
              <a:off x="3160805" y="2801099"/>
              <a:ext cx="1287384" cy="7701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>
                <a:latin typeface="Century Gothic" panose="020B0502020202020204" pitchFamily="34" charset="0"/>
              </a:endParaRP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1249A3A4-9F58-4051-B238-C10C0638D6E7}"/>
                </a:ext>
              </a:extLst>
            </p:cNvPr>
            <p:cNvGrpSpPr/>
            <p:nvPr/>
          </p:nvGrpSpPr>
          <p:grpSpPr>
            <a:xfrm>
              <a:off x="3156087" y="2844886"/>
              <a:ext cx="1221931" cy="734039"/>
              <a:chOff x="3407343" y="2156059"/>
              <a:chExt cx="4928135" cy="3195587"/>
            </a:xfrm>
          </p:grpSpPr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4F87AD44-62F5-4767-BE9A-50900B9540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7343" y="4908884"/>
                <a:ext cx="491851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EF98F6EE-8B53-4EEA-9EB9-3012A23A5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6968" y="3888606"/>
                <a:ext cx="491851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D14BCFE5-DD95-4E1B-A341-939385E60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7343" y="2926080"/>
                <a:ext cx="491851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55363F5F-EDAB-4ECC-B6FE-32CD5B0568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1348" y="2156059"/>
                <a:ext cx="0" cy="319558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2D4ED8B5-4270-41C1-974E-381F37864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4132" y="2156059"/>
                <a:ext cx="0" cy="319558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5287AA71-0FD6-48D9-B139-CFD16D6B3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25853" y="2156059"/>
                <a:ext cx="0" cy="319558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60140B79-F25F-418C-97AA-52FCA8C0FF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5576" y="2156059"/>
                <a:ext cx="0" cy="319558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E4493B18-88F2-4E10-BA62-E2D47D4B71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4667" y="2156059"/>
                <a:ext cx="0" cy="319558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820AFCF-7C7C-422C-B195-CDA69278C0BC}"/>
                </a:ext>
              </a:extLst>
            </p:cNvPr>
            <p:cNvSpPr txBox="1">
              <a:spLocks/>
            </p:cNvSpPr>
            <p:nvPr/>
          </p:nvSpPr>
          <p:spPr>
            <a:xfrm>
              <a:off x="3051043" y="3553822"/>
              <a:ext cx="444177" cy="164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0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:00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9D0BC6A-317E-417C-B29B-EA72A563C64F}"/>
                </a:ext>
              </a:extLst>
            </p:cNvPr>
            <p:cNvSpPr txBox="1">
              <a:spLocks/>
            </p:cNvSpPr>
            <p:nvPr/>
          </p:nvSpPr>
          <p:spPr>
            <a:xfrm>
              <a:off x="3371434" y="3553822"/>
              <a:ext cx="444177" cy="164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6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:00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35803FD5-4F2F-4C2E-BC53-CF7C9CD64242}"/>
                </a:ext>
              </a:extLst>
            </p:cNvPr>
            <p:cNvSpPr txBox="1">
              <a:spLocks/>
            </p:cNvSpPr>
            <p:nvPr/>
          </p:nvSpPr>
          <p:spPr>
            <a:xfrm>
              <a:off x="3660874" y="3553822"/>
              <a:ext cx="444177" cy="1703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12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:00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295CB06-A515-4638-86BD-49478FE6F55A}"/>
                </a:ext>
              </a:extLst>
            </p:cNvPr>
            <p:cNvSpPr txBox="1">
              <a:spLocks/>
            </p:cNvSpPr>
            <p:nvPr/>
          </p:nvSpPr>
          <p:spPr>
            <a:xfrm>
              <a:off x="3969992" y="3553820"/>
              <a:ext cx="444177" cy="221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18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:00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64ADDAF5-B4E3-4D02-9A29-ED25760414F0}"/>
                </a:ext>
              </a:extLst>
            </p:cNvPr>
            <p:cNvSpPr txBox="1">
              <a:spLocks/>
            </p:cNvSpPr>
            <p:nvPr/>
          </p:nvSpPr>
          <p:spPr>
            <a:xfrm>
              <a:off x="4227303" y="3553821"/>
              <a:ext cx="456992" cy="221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23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:00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A145192D-711B-4778-B205-A4ABF2F3C2F8}"/>
                </a:ext>
              </a:extLst>
            </p:cNvPr>
            <p:cNvSpPr txBox="1"/>
            <p:nvPr/>
          </p:nvSpPr>
          <p:spPr>
            <a:xfrm>
              <a:off x="2917195" y="3338898"/>
              <a:ext cx="36451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70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86343273-63FD-4119-A76C-2372ED6888DE}"/>
                </a:ext>
              </a:extLst>
            </p:cNvPr>
            <p:cNvSpPr txBox="1"/>
            <p:nvPr/>
          </p:nvSpPr>
          <p:spPr>
            <a:xfrm>
              <a:off x="2917195" y="3113600"/>
              <a:ext cx="36451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75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7676A32F-888C-427A-B67A-4868E815BA6E}"/>
                </a:ext>
              </a:extLst>
            </p:cNvPr>
            <p:cNvSpPr txBox="1"/>
            <p:nvPr/>
          </p:nvSpPr>
          <p:spPr>
            <a:xfrm>
              <a:off x="2917195" y="2907631"/>
              <a:ext cx="364514" cy="221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80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E031E90A-CC94-4D97-B55C-433C09968B7B}"/>
                </a:ext>
              </a:extLst>
            </p:cNvPr>
            <p:cNvSpPr txBox="1"/>
            <p:nvPr/>
          </p:nvSpPr>
          <p:spPr>
            <a:xfrm>
              <a:off x="2897295" y="2720824"/>
              <a:ext cx="706490" cy="221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负荷</a:t>
              </a:r>
              <a:r>
                <a:rPr lang="en-US" altLang="zh-CN" sz="800" dirty="0">
                  <a:latin typeface="Century Gothic" panose="020B0502020202020204" pitchFamily="34" charset="0"/>
                  <a:ea typeface="华文楷体" panose="02010600040101010101" pitchFamily="2" charset="-122"/>
                </a:rPr>
                <a:t>/MW</a:t>
              </a:r>
              <a:endParaRPr lang="zh-CN" altLang="en-US" sz="800" dirty="0">
                <a:latin typeface="Century Gothic" panose="020B050202020202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7364443C-3858-4FC1-86AA-050FDCCEE38C}"/>
                </a:ext>
              </a:extLst>
            </p:cNvPr>
            <p:cNvSpPr>
              <a:spLocks/>
            </p:cNvSpPr>
            <p:nvPr/>
          </p:nvSpPr>
          <p:spPr>
            <a:xfrm>
              <a:off x="3190508" y="3037414"/>
              <a:ext cx="1169426" cy="138183"/>
            </a:xfrm>
            <a:custGeom>
              <a:avLst/>
              <a:gdLst>
                <a:gd name="connsiteX0" fmla="*/ 0 w 2458720"/>
                <a:gd name="connsiteY0" fmla="*/ 111760 h 213360"/>
                <a:gd name="connsiteX1" fmla="*/ 233680 w 2458720"/>
                <a:gd name="connsiteY1" fmla="*/ 203200 h 213360"/>
                <a:gd name="connsiteX2" fmla="*/ 472440 w 2458720"/>
                <a:gd name="connsiteY2" fmla="*/ 55880 h 213360"/>
                <a:gd name="connsiteX3" fmla="*/ 568960 w 2458720"/>
                <a:gd name="connsiteY3" fmla="*/ 66040 h 213360"/>
                <a:gd name="connsiteX4" fmla="*/ 782320 w 2458720"/>
                <a:gd name="connsiteY4" fmla="*/ 213360 h 213360"/>
                <a:gd name="connsiteX5" fmla="*/ 904240 w 2458720"/>
                <a:gd name="connsiteY5" fmla="*/ 152400 h 213360"/>
                <a:gd name="connsiteX6" fmla="*/ 965200 w 2458720"/>
                <a:gd name="connsiteY6" fmla="*/ 177800 h 213360"/>
                <a:gd name="connsiteX7" fmla="*/ 1102360 w 2458720"/>
                <a:gd name="connsiteY7" fmla="*/ 147320 h 213360"/>
                <a:gd name="connsiteX8" fmla="*/ 1214120 w 2458720"/>
                <a:gd name="connsiteY8" fmla="*/ 66040 h 213360"/>
                <a:gd name="connsiteX9" fmla="*/ 1305560 w 2458720"/>
                <a:gd name="connsiteY9" fmla="*/ 121920 h 213360"/>
                <a:gd name="connsiteX10" fmla="*/ 1437640 w 2458720"/>
                <a:gd name="connsiteY10" fmla="*/ 167640 h 213360"/>
                <a:gd name="connsiteX11" fmla="*/ 1645920 w 2458720"/>
                <a:gd name="connsiteY11" fmla="*/ 96520 h 213360"/>
                <a:gd name="connsiteX12" fmla="*/ 1706880 w 2458720"/>
                <a:gd name="connsiteY12" fmla="*/ 40640 h 213360"/>
                <a:gd name="connsiteX13" fmla="*/ 1823720 w 2458720"/>
                <a:gd name="connsiteY13" fmla="*/ 0 h 213360"/>
                <a:gd name="connsiteX14" fmla="*/ 1940560 w 2458720"/>
                <a:gd name="connsiteY14" fmla="*/ 66040 h 213360"/>
                <a:gd name="connsiteX15" fmla="*/ 2026920 w 2458720"/>
                <a:gd name="connsiteY15" fmla="*/ 96520 h 213360"/>
                <a:gd name="connsiteX16" fmla="*/ 2204720 w 2458720"/>
                <a:gd name="connsiteY16" fmla="*/ 86360 h 213360"/>
                <a:gd name="connsiteX17" fmla="*/ 2387600 w 2458720"/>
                <a:gd name="connsiteY17" fmla="*/ 71120 h 213360"/>
                <a:gd name="connsiteX18" fmla="*/ 2458720 w 2458720"/>
                <a:gd name="connsiteY18" fmla="*/ 11176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58720" h="213360">
                  <a:moveTo>
                    <a:pt x="0" y="111760"/>
                  </a:moveTo>
                  <a:lnTo>
                    <a:pt x="233680" y="203200"/>
                  </a:lnTo>
                  <a:lnTo>
                    <a:pt x="472440" y="55880"/>
                  </a:lnTo>
                  <a:lnTo>
                    <a:pt x="568960" y="66040"/>
                  </a:lnTo>
                  <a:lnTo>
                    <a:pt x="782320" y="213360"/>
                  </a:lnTo>
                  <a:lnTo>
                    <a:pt x="904240" y="152400"/>
                  </a:lnTo>
                  <a:lnTo>
                    <a:pt x="965200" y="177800"/>
                  </a:lnTo>
                  <a:lnTo>
                    <a:pt x="1102360" y="147320"/>
                  </a:lnTo>
                  <a:lnTo>
                    <a:pt x="1214120" y="66040"/>
                  </a:lnTo>
                  <a:lnTo>
                    <a:pt x="1305560" y="121920"/>
                  </a:lnTo>
                  <a:lnTo>
                    <a:pt x="1437640" y="167640"/>
                  </a:lnTo>
                  <a:lnTo>
                    <a:pt x="1645920" y="96520"/>
                  </a:lnTo>
                  <a:lnTo>
                    <a:pt x="1706880" y="40640"/>
                  </a:lnTo>
                  <a:lnTo>
                    <a:pt x="1823720" y="0"/>
                  </a:lnTo>
                  <a:lnTo>
                    <a:pt x="1940560" y="66040"/>
                  </a:lnTo>
                  <a:lnTo>
                    <a:pt x="2026920" y="96520"/>
                  </a:lnTo>
                  <a:lnTo>
                    <a:pt x="2204720" y="86360"/>
                  </a:lnTo>
                  <a:lnTo>
                    <a:pt x="2387600" y="71120"/>
                  </a:lnTo>
                  <a:lnTo>
                    <a:pt x="2458720" y="111760"/>
                  </a:lnTo>
                </a:path>
              </a:pathLst>
            </a:custGeom>
            <a:noFill/>
            <a:ln>
              <a:solidFill>
                <a:srgbClr val="C660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143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DBBCFCE-B7E6-4CD4-B4B3-D26B00D6E1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9509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1" name="think-cell 幻灯片" r:id="rId4" imgW="416" imgH="416" progId="TCLayout.ActiveDocument.1">
                  <p:embed/>
                </p:oleObj>
              </mc:Choice>
              <mc:Fallback>
                <p:oleObj name="think-cell 幻灯片" r:id="rId4" imgW="416" imgH="41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DBBCFCE-B7E6-4CD4-B4B3-D26B00D6E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6C3DDCE7-C2B7-4952-8777-2ADDB480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95" y="189186"/>
            <a:ext cx="11394459" cy="461569"/>
          </a:xfrm>
        </p:spPr>
        <p:txBody>
          <a:bodyPr vert="horz">
            <a:no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商业建筑：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从区域上看，应重点关注江苏、广东、浙江等绿色建筑示范区域；用户核心痛点在于节能、高效运维和低碳运营，建议以能源管理</a:t>
            </a:r>
            <a:r>
              <a:rPr lang="en-US" altLang="zh-CN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电力运维</a:t>
            </a:r>
            <a:r>
              <a:rPr lang="en-US" altLang="zh-CN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零碳为切入点，提供“绿色楼宇</a:t>
            </a:r>
            <a:r>
              <a:rPr lang="en-US" altLang="zh-CN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/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能碳双控解决方案</a:t>
            </a:r>
            <a:endParaRPr lang="zh-CN" altLang="en-US" sz="1800" b="1" dirty="0">
              <a:solidFill>
                <a:schemeClr val="accent1"/>
              </a:solidFill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A8AF2-2528-4269-9958-D32811F915E4}"/>
              </a:ext>
            </a:extLst>
          </p:cNvPr>
          <p:cNvSpPr>
            <a:spLocks/>
          </p:cNvSpPr>
          <p:nvPr/>
        </p:nvSpPr>
        <p:spPr>
          <a:xfrm>
            <a:off x="480874" y="977480"/>
            <a:ext cx="11230253" cy="5513772"/>
          </a:xfrm>
          <a:prstGeom prst="roundRect">
            <a:avLst>
              <a:gd name="adj" fmla="val 1773"/>
            </a:avLst>
          </a:prstGeom>
          <a:noFill/>
          <a:ln w="9525">
            <a:solidFill>
              <a:srgbClr val="C6605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E201826-83E9-429C-B300-9BB48532E193}"/>
              </a:ext>
            </a:extLst>
          </p:cNvPr>
          <p:cNvSpPr/>
          <p:nvPr/>
        </p:nvSpPr>
        <p:spPr>
          <a:xfrm>
            <a:off x="596979" y="813032"/>
            <a:ext cx="312351" cy="311150"/>
          </a:xfrm>
          <a:prstGeom prst="ellipse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1C5A593-1193-4325-BD45-3C0877165C56}"/>
              </a:ext>
            </a:extLst>
          </p:cNvPr>
          <p:cNvSpPr/>
          <p:nvPr/>
        </p:nvSpPr>
        <p:spPr>
          <a:xfrm>
            <a:off x="801947" y="857474"/>
            <a:ext cx="239532" cy="23861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3BA9470-31ED-475D-BBCE-8D07C75A58A5}"/>
              </a:ext>
            </a:extLst>
          </p:cNvPr>
          <p:cNvSpPr txBox="1"/>
          <p:nvPr/>
        </p:nvSpPr>
        <p:spPr>
          <a:xfrm>
            <a:off x="417579" y="6493207"/>
            <a:ext cx="11293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信息来源：“十四五”建筑节能与绿色建筑发展规划；建筑节能与可再生能源利用通用规范；中国建筑节能协会；</a:t>
            </a:r>
            <a:r>
              <a:rPr lang="en-US" altLang="zh-CN" sz="8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M2</a:t>
            </a:r>
            <a:r>
              <a:rPr lang="zh-CN" altLang="en-US" sz="8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专家访谈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1DAE45C-2913-4F72-9A92-1BCF9198BFB7}"/>
              </a:ext>
            </a:extLst>
          </p:cNvPr>
          <p:cNvGrpSpPr/>
          <p:nvPr/>
        </p:nvGrpSpPr>
        <p:grpSpPr>
          <a:xfrm>
            <a:off x="631825" y="1176861"/>
            <a:ext cx="10899226" cy="5152116"/>
            <a:chOff x="631825" y="1176861"/>
            <a:chExt cx="10899226" cy="515211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1A13CFE-A8BF-4D3D-86D7-FAFE740EA19F}"/>
                </a:ext>
              </a:extLst>
            </p:cNvPr>
            <p:cNvSpPr>
              <a:spLocks/>
            </p:cNvSpPr>
            <p:nvPr/>
          </p:nvSpPr>
          <p:spPr>
            <a:xfrm>
              <a:off x="631825" y="1176861"/>
              <a:ext cx="690866" cy="726227"/>
            </a:xfrm>
            <a:prstGeom prst="rect">
              <a:avLst/>
            </a:prstGeom>
            <a:solidFill>
              <a:srgbClr val="C660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重点区域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E9E6B97-66C8-45CA-8DC8-0574CDBC8AAF}"/>
                </a:ext>
              </a:extLst>
            </p:cNvPr>
            <p:cNvSpPr>
              <a:spLocks/>
            </p:cNvSpPr>
            <p:nvPr/>
          </p:nvSpPr>
          <p:spPr>
            <a:xfrm>
              <a:off x="1476958" y="1190860"/>
              <a:ext cx="10054093" cy="342152"/>
            </a:xfrm>
            <a:prstGeom prst="rect">
              <a:avLst/>
            </a:prstGeom>
            <a:solidFill>
              <a:srgbClr val="FAE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Priority 1</a:t>
              </a:r>
              <a:r>
                <a:rPr lang="zh-CN" altLang="en-US" sz="11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r>
                <a:rPr lang="zh-CN" altLang="en-US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江苏（苏州同理综合能源示范区）、广东（深圳）、浙江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，多分布于东</a:t>
              </a:r>
              <a:r>
                <a: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南部经济、政策等环境较好区域，分布式能源接入量较大区域</a:t>
              </a:r>
              <a:endPara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C0109AF-C97E-461A-8CAF-D23F6133057A}"/>
                </a:ext>
              </a:extLst>
            </p:cNvPr>
            <p:cNvSpPr txBox="1">
              <a:spLocks/>
            </p:cNvSpPr>
            <p:nvPr/>
          </p:nvSpPr>
          <p:spPr>
            <a:xfrm>
              <a:off x="1476958" y="1604011"/>
              <a:ext cx="10054092" cy="299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zh-CN" sz="1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Priority 2</a:t>
              </a:r>
              <a:r>
                <a:rPr lang="zh-CN" altLang="en-US" sz="1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r>
                <a:rPr lang="zh-CN" altLang="en-US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上海（张江高新区）、陕西、山东、湖北、天津、河北、北京（海淀北部新区）等</a:t>
              </a:r>
              <a:endParaRPr lang="en-US" altLang="zh-CN" sz="10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EAAA065-98E5-4A47-BF9D-C3C1086CB77D}"/>
                </a:ext>
              </a:extLst>
            </p:cNvPr>
            <p:cNvSpPr>
              <a:spLocks/>
            </p:cNvSpPr>
            <p:nvPr/>
          </p:nvSpPr>
          <p:spPr>
            <a:xfrm>
              <a:off x="631825" y="5157047"/>
              <a:ext cx="690866" cy="1171929"/>
            </a:xfrm>
            <a:prstGeom prst="rect">
              <a:avLst/>
            </a:prstGeom>
            <a:solidFill>
              <a:srgbClr val="C660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商业模式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9A34B80-37E4-431A-B533-AFD79ADE46BA}"/>
                </a:ext>
              </a:extLst>
            </p:cNvPr>
            <p:cNvGrpSpPr/>
            <p:nvPr/>
          </p:nvGrpSpPr>
          <p:grpSpPr>
            <a:xfrm>
              <a:off x="1476956" y="5157050"/>
              <a:ext cx="9296058" cy="548514"/>
              <a:chOff x="1476956" y="5585653"/>
              <a:chExt cx="8890342" cy="298530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8EAA23F6-0DFD-4705-80B5-4A828CADA4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6956" y="5585653"/>
                <a:ext cx="1303834" cy="298530"/>
              </a:xfrm>
              <a:prstGeom prst="rect">
                <a:avLst/>
              </a:prstGeom>
              <a:solidFill>
                <a:srgbClr val="FAEE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解决方案</a:t>
                </a:r>
                <a:endParaRPr lang="en-US" altLang="zh-CN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6E620DA-56BC-4C96-A294-D1E7AF1EE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00889" y="5585653"/>
                <a:ext cx="7266409" cy="2985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300"/>
                  </a:spcBef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“绿色建筑解决方案”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108000" indent="-10800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基于智慧互联平台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(VPP)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 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能源管理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电力运维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分布式光伏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储能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充电桩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碳咨询服务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综合能源解决方案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47DCEC5-C225-47D6-BAA2-BC959A39DFDB}"/>
                </a:ext>
              </a:extLst>
            </p:cNvPr>
            <p:cNvSpPr>
              <a:spLocks/>
            </p:cNvSpPr>
            <p:nvPr/>
          </p:nvSpPr>
          <p:spPr>
            <a:xfrm>
              <a:off x="1484640" y="5825571"/>
              <a:ext cx="1363335" cy="503406"/>
            </a:xfrm>
            <a:prstGeom prst="rect">
              <a:avLst/>
            </a:prstGeom>
            <a:solidFill>
              <a:srgbClr val="FAE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业务模式</a:t>
              </a:r>
              <a:endParaRPr lang="en-US" altLang="zh-CN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10CA800C-1BF1-4C44-B8B2-AA1272CDD57C}"/>
                </a:ext>
              </a:extLst>
            </p:cNvPr>
            <p:cNvSpPr>
              <a:spLocks/>
            </p:cNvSpPr>
            <p:nvPr/>
          </p:nvSpPr>
          <p:spPr>
            <a:xfrm>
              <a:off x="3174998" y="5825571"/>
              <a:ext cx="7598016" cy="503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协同内部能源管理业务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，开拓商业楼宇客户资源，以能源管理</a:t>
              </a:r>
              <a:r>
                <a: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/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咨询为切入点，提供咨询</a:t>
              </a:r>
              <a:r>
                <a: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运维</a:t>
              </a:r>
              <a:r>
                <a: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碳管理一体化方案，聚合海量数据</a:t>
              </a:r>
              <a:endParaRPr lang="en-US" altLang="zh-CN" sz="1000" b="1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协同内部碳管理业务</a:t>
              </a:r>
              <a:r>
                <a:rPr lang="zh-CN" altLang="en-US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，以“碳管理”为附加价值，为客户提供“零碳解决方案”</a:t>
              </a:r>
              <a:endPara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9CD27976-5489-4B47-8A7D-E0ED02597FE8}"/>
                </a:ext>
              </a:extLst>
            </p:cNvPr>
            <p:cNvSpPr>
              <a:spLocks/>
            </p:cNvSpPr>
            <p:nvPr/>
          </p:nvSpPr>
          <p:spPr>
            <a:xfrm>
              <a:off x="10773014" y="5157047"/>
              <a:ext cx="758031" cy="1171929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i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Diamond</a:t>
              </a:r>
              <a:r>
                <a:rPr lang="zh-CN" altLang="en-US" sz="1100" i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项目协同</a:t>
              </a:r>
              <a:endParaRPr lang="en-US" altLang="zh-CN" sz="1100" i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AD43CBB-778F-4AC7-A92C-F85B29E12931}"/>
                </a:ext>
              </a:extLst>
            </p:cNvPr>
            <p:cNvGrpSpPr/>
            <p:nvPr/>
          </p:nvGrpSpPr>
          <p:grpSpPr>
            <a:xfrm>
              <a:off x="631825" y="1983910"/>
              <a:ext cx="10899225" cy="3097401"/>
              <a:chOff x="631825" y="2230378"/>
              <a:chExt cx="10899225" cy="285093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82F831A-BFED-43E9-9B41-0D1800E911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5264" y="2230378"/>
                <a:ext cx="1365027" cy="28498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zh-CN" altLang="en-US" sz="1000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9C530B27-CF01-4F2B-97EE-120FF1F3F0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1825" y="2230378"/>
                <a:ext cx="690866" cy="2849897"/>
              </a:xfrm>
              <a:prstGeom prst="rect">
                <a:avLst/>
              </a:prstGeom>
              <a:solidFill>
                <a:srgbClr val="C660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用户画像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B50A214-D0CF-458C-AED4-BF9D0827D8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4999" y="2231417"/>
                <a:ext cx="8356051" cy="149763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行业概况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：集中度低（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CR5~15%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），单体建筑面积大，电力服务生态相对开放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171450" indent="-171450">
                  <a:lnSpc>
                    <a:spcPct val="125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行业用能特点：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用电量大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：商业建筑用电总量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~4700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亿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kWh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占比公商建总用电总量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&gt;60%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，主要高耗能设备为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HVAC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、照明，用电量占比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~75%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负荷波动大：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用电负荷峰谷特征显著，</a:t>
                </a:r>
                <a:endParaRPr lang="en-US" altLang="zh-CN" sz="1000" b="1" u="sng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碳排强度高</a:t>
                </a:r>
                <a:r>
                  <a:rPr lang="en-US" altLang="zh-CN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&amp;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强制限碳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：商业建筑碳排强度约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为全国强度水平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倍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，运营阶段碳排占比全国碳排总量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&gt;20%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2022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年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月起，住建部要求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强制建筑碳排计算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用电成本敏感度低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：用电成本占总运营成本比重较低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~14%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，且电费多由用户均摊，因此业主对用电成本敏感度较低；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注重用能精细管理、高效运维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：重点关注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高耗能设备运行状态监控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（异常预警、故障诊断等），同时对承租用户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能源计量准确性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要求较高。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2101161-62D5-418A-B0E3-FDB2440B1C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4999" y="3783752"/>
                <a:ext cx="8346523" cy="12888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大核心需求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61950" lvl="1" indent="-17145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用能精细化管理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一体化综合能源服务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（气电冷热实时感知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能耗分析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用能托管）、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高效运维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（运行监视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故障预警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监测报告）、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低碳运营</a:t>
                </a:r>
              </a:p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主要措施：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61950" indent="-17145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能碳双控系统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：如远景协助微软中国打造智慧楼宇，通过“方舟”能碳双控系统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+2800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㎡屋顶光伏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+2MWh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储能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充电桩，实现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&gt;30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万平楼宇能碳数据可视化，省电费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~60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万元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年</a:t>
                </a:r>
                <a:endParaRPr lang="en-US" altLang="zh-CN" sz="1000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61950" indent="-17145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直流微电网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：如国臣直流协助华为松山湖总部，打造商业办公直流微网，系统设计功率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250kW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，包含分布式光伏自发自用、储能补充供电，直流电源直供支流设备（空调、充电桩、照明、直流家电等），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60kW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充电桩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V2G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双向充放电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B79B0490-E4CC-4E2B-AB4B-42FDFE35F142}"/>
                  </a:ext>
                </a:extLst>
              </p:cNvPr>
              <p:cNvGrpSpPr/>
              <p:nvPr/>
            </p:nvGrpSpPr>
            <p:grpSpPr>
              <a:xfrm>
                <a:off x="1384300" y="3016126"/>
                <a:ext cx="1463675" cy="1250950"/>
                <a:chOff x="1384300" y="4276112"/>
                <a:chExt cx="1463675" cy="1250950"/>
              </a:xfrm>
            </p:grpSpPr>
            <p:grpSp>
              <p:nvGrpSpPr>
                <p:cNvPr id="3" name="组合 2">
                  <a:extLst>
                    <a:ext uri="{FF2B5EF4-FFF2-40B4-BE49-F238E27FC236}">
                      <a16:creationId xmlns:a16="http://schemas.microsoft.com/office/drawing/2014/main" id="{5F18F015-4D29-4A42-BC29-345BEC88757C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300" y="4276112"/>
                  <a:ext cx="1463675" cy="1169909"/>
                  <a:chOff x="475038" y="586179"/>
                  <a:chExt cx="4483100" cy="831647"/>
                </a:xfrm>
              </p:grpSpPr>
              <p:grpSp>
                <p:nvGrpSpPr>
                  <p:cNvPr id="77" name="组合 76">
                    <a:extLst>
                      <a:ext uri="{FF2B5EF4-FFF2-40B4-BE49-F238E27FC236}">
                        <a16:creationId xmlns:a16="http://schemas.microsoft.com/office/drawing/2014/main" id="{C48E43FA-99ED-4266-99B4-0D8B33163DEE}"/>
                      </a:ext>
                    </a:extLst>
                  </p:cNvPr>
                  <p:cNvGrpSpPr/>
                  <p:nvPr/>
                </p:nvGrpSpPr>
                <p:grpSpPr>
                  <a:xfrm>
                    <a:off x="934140" y="766105"/>
                    <a:ext cx="3607196" cy="651721"/>
                    <a:chOff x="1085398" y="2735723"/>
                    <a:chExt cx="1878246" cy="1015893"/>
                  </a:xfrm>
                </p:grpSpPr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9C9769D0-FA92-47CE-B765-58C40B13E6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085398" y="2735723"/>
                      <a:ext cx="1878246" cy="100586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00" dirty="0">
                        <a:latin typeface="Century Gothic" panose="020B0502020202020204" pitchFamily="34" charset="0"/>
                      </a:endParaRPr>
                    </a:p>
                  </p:txBody>
                </p:sp>
                <p:grpSp>
                  <p:nvGrpSpPr>
                    <p:cNvPr id="80" name="组合 79">
                      <a:extLst>
                        <a:ext uri="{FF2B5EF4-FFF2-40B4-BE49-F238E27FC236}">
                          <a16:creationId xmlns:a16="http://schemas.microsoft.com/office/drawing/2014/main" id="{F00CE7AE-5389-42A4-9F8D-FA1E166590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03024" y="2792915"/>
                      <a:ext cx="1782752" cy="958701"/>
                      <a:chOff x="3407343" y="2156059"/>
                      <a:chExt cx="4928135" cy="3195587"/>
                    </a:xfrm>
                  </p:grpSpPr>
                  <p:cxnSp>
                    <p:nvCxnSpPr>
                      <p:cNvPr id="92" name="直接连接符 91">
                        <a:extLst>
                          <a:ext uri="{FF2B5EF4-FFF2-40B4-BE49-F238E27FC236}">
                            <a16:creationId xmlns:a16="http://schemas.microsoft.com/office/drawing/2014/main" id="{D2E54F56-E549-4A1E-BC69-E9BEBB0BF4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343" y="4908884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直接连接符 92">
                        <a:extLst>
                          <a:ext uri="{FF2B5EF4-FFF2-40B4-BE49-F238E27FC236}">
                            <a16:creationId xmlns:a16="http://schemas.microsoft.com/office/drawing/2014/main" id="{30053697-094B-468F-B9F4-B2DB043FD6B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16968" y="3888606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直接连接符 93">
                        <a:extLst>
                          <a:ext uri="{FF2B5EF4-FFF2-40B4-BE49-F238E27FC236}">
                            <a16:creationId xmlns:a16="http://schemas.microsoft.com/office/drawing/2014/main" id="{38110845-F12B-4F28-AA1B-AA3438A6CA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343" y="2926080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直接连接符 94">
                        <a:extLst>
                          <a:ext uri="{FF2B5EF4-FFF2-40B4-BE49-F238E27FC236}">
                            <a16:creationId xmlns:a16="http://schemas.microsoft.com/office/drawing/2014/main" id="{41146AC5-EC33-4621-AF13-560C7176382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61348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直接连接符 95">
                        <a:extLst>
                          <a:ext uri="{FF2B5EF4-FFF2-40B4-BE49-F238E27FC236}">
                            <a16:creationId xmlns:a16="http://schemas.microsoft.com/office/drawing/2014/main" id="{51E3BB3C-5820-403C-A332-FB8AF941D5E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774132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直接连接符 96">
                        <a:extLst>
                          <a:ext uri="{FF2B5EF4-FFF2-40B4-BE49-F238E27FC236}">
                            <a16:creationId xmlns:a16="http://schemas.microsoft.com/office/drawing/2014/main" id="{21267D8B-59F6-4282-9A0F-A5822DE1CB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325853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直接连接符 97">
                        <a:extLst>
                          <a:ext uri="{FF2B5EF4-FFF2-40B4-BE49-F238E27FC236}">
                            <a16:creationId xmlns:a16="http://schemas.microsoft.com/office/drawing/2014/main" id="{E8458C69-23CE-453E-B717-C83015CB6C9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305576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直接连接符 98">
                        <a:extLst>
                          <a:ext uri="{FF2B5EF4-FFF2-40B4-BE49-F238E27FC236}">
                            <a16:creationId xmlns:a16="http://schemas.microsoft.com/office/drawing/2014/main" id="{B2DBD117-8DC0-4C80-AB2E-A9BC1C423C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044667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438B8E16-2751-43B2-A535-CA7B4ED281D4}"/>
                      </a:ext>
                    </a:extLst>
                  </p:cNvPr>
                  <p:cNvSpPr txBox="1"/>
                  <p:nvPr/>
                </p:nvSpPr>
                <p:spPr>
                  <a:xfrm>
                    <a:off x="475038" y="586179"/>
                    <a:ext cx="4483100" cy="17503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000" b="1" u="sng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日内用电负荷曲线</a:t>
                    </a:r>
                  </a:p>
                </p:txBody>
              </p:sp>
            </p:grpSp>
            <p:sp>
              <p:nvSpPr>
                <p:cNvPr id="10" name="任意多边形: 形状 9">
                  <a:extLst>
                    <a:ext uri="{FF2B5EF4-FFF2-40B4-BE49-F238E27FC236}">
                      <a16:creationId xmlns:a16="http://schemas.microsoft.com/office/drawing/2014/main" id="{C21C433A-5269-4ACC-A202-D36779D8A631}"/>
                    </a:ext>
                  </a:extLst>
                </p:cNvPr>
                <p:cNvSpPr/>
                <p:nvPr/>
              </p:nvSpPr>
              <p:spPr>
                <a:xfrm>
                  <a:off x="1620852" y="4805837"/>
                  <a:ext cx="1008404" cy="544250"/>
                </a:xfrm>
                <a:custGeom>
                  <a:avLst/>
                  <a:gdLst>
                    <a:gd name="connsiteX0" fmla="*/ 0 w 1008404"/>
                    <a:gd name="connsiteY0" fmla="*/ 538923 h 544250"/>
                    <a:gd name="connsiteX1" fmla="*/ 91155 w 1008404"/>
                    <a:gd name="connsiteY1" fmla="*/ 541771 h 544250"/>
                    <a:gd name="connsiteX2" fmla="*/ 116793 w 1008404"/>
                    <a:gd name="connsiteY2" fmla="*/ 507588 h 544250"/>
                    <a:gd name="connsiteX3" fmla="*/ 170916 w 1008404"/>
                    <a:gd name="connsiteY3" fmla="*/ 536074 h 544250"/>
                    <a:gd name="connsiteX4" fmla="*/ 210797 w 1008404"/>
                    <a:gd name="connsiteY4" fmla="*/ 527528 h 544250"/>
                    <a:gd name="connsiteX5" fmla="*/ 253526 w 1008404"/>
                    <a:gd name="connsiteY5" fmla="*/ 464859 h 544250"/>
                    <a:gd name="connsiteX6" fmla="*/ 290557 w 1008404"/>
                    <a:gd name="connsiteY6" fmla="*/ 433525 h 544250"/>
                    <a:gd name="connsiteX7" fmla="*/ 338984 w 1008404"/>
                    <a:gd name="connsiteY7" fmla="*/ 436373 h 544250"/>
                    <a:gd name="connsiteX8" fmla="*/ 370318 w 1008404"/>
                    <a:gd name="connsiteY8" fmla="*/ 279700 h 544250"/>
                    <a:gd name="connsiteX9" fmla="*/ 398804 w 1008404"/>
                    <a:gd name="connsiteY9" fmla="*/ 205637 h 544250"/>
                    <a:gd name="connsiteX10" fmla="*/ 441533 w 1008404"/>
                    <a:gd name="connsiteY10" fmla="*/ 157211 h 544250"/>
                    <a:gd name="connsiteX11" fmla="*/ 498505 w 1008404"/>
                    <a:gd name="connsiteY11" fmla="*/ 140119 h 544250"/>
                    <a:gd name="connsiteX12" fmla="*/ 546931 w 1008404"/>
                    <a:gd name="connsiteY12" fmla="*/ 168605 h 544250"/>
                    <a:gd name="connsiteX13" fmla="*/ 603903 w 1008404"/>
                    <a:gd name="connsiteY13" fmla="*/ 177151 h 544250"/>
                    <a:gd name="connsiteX14" fmla="*/ 620995 w 1008404"/>
                    <a:gd name="connsiteY14" fmla="*/ 137270 h 544250"/>
                    <a:gd name="connsiteX15" fmla="*/ 658027 w 1008404"/>
                    <a:gd name="connsiteY15" fmla="*/ 66055 h 544250"/>
                    <a:gd name="connsiteX16" fmla="*/ 697907 w 1008404"/>
                    <a:gd name="connsiteY16" fmla="*/ 134422 h 544250"/>
                    <a:gd name="connsiteX17" fmla="*/ 763425 w 1008404"/>
                    <a:gd name="connsiteY17" fmla="*/ 88844 h 544250"/>
                    <a:gd name="connsiteX18" fmla="*/ 780516 w 1008404"/>
                    <a:gd name="connsiteY18" fmla="*/ 34721 h 544250"/>
                    <a:gd name="connsiteX19" fmla="*/ 846034 w 1008404"/>
                    <a:gd name="connsiteY19" fmla="*/ 9083 h 544250"/>
                    <a:gd name="connsiteX20" fmla="*/ 917249 w 1008404"/>
                    <a:gd name="connsiteY20" fmla="*/ 194242 h 544250"/>
                    <a:gd name="connsiteX21" fmla="*/ 1008404 w 1008404"/>
                    <a:gd name="connsiteY21" fmla="*/ 285398 h 544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08404" h="544250">
                      <a:moveTo>
                        <a:pt x="0" y="538923"/>
                      </a:moveTo>
                      <a:cubicBezTo>
                        <a:pt x="35845" y="542958"/>
                        <a:pt x="71690" y="546993"/>
                        <a:pt x="91155" y="541771"/>
                      </a:cubicBezTo>
                      <a:cubicBezTo>
                        <a:pt x="110620" y="536549"/>
                        <a:pt x="103500" y="508537"/>
                        <a:pt x="116793" y="507588"/>
                      </a:cubicBezTo>
                      <a:cubicBezTo>
                        <a:pt x="130087" y="506638"/>
                        <a:pt x="155249" y="532751"/>
                        <a:pt x="170916" y="536074"/>
                      </a:cubicBezTo>
                      <a:cubicBezTo>
                        <a:pt x="186583" y="539397"/>
                        <a:pt x="197029" y="539397"/>
                        <a:pt x="210797" y="527528"/>
                      </a:cubicBezTo>
                      <a:cubicBezTo>
                        <a:pt x="224565" y="515659"/>
                        <a:pt x="240233" y="480526"/>
                        <a:pt x="253526" y="464859"/>
                      </a:cubicBezTo>
                      <a:cubicBezTo>
                        <a:pt x="266819" y="449192"/>
                        <a:pt x="276314" y="438273"/>
                        <a:pt x="290557" y="433525"/>
                      </a:cubicBezTo>
                      <a:cubicBezTo>
                        <a:pt x="304800" y="428777"/>
                        <a:pt x="325691" y="462010"/>
                        <a:pt x="338984" y="436373"/>
                      </a:cubicBezTo>
                      <a:cubicBezTo>
                        <a:pt x="352278" y="410735"/>
                        <a:pt x="360348" y="318156"/>
                        <a:pt x="370318" y="279700"/>
                      </a:cubicBezTo>
                      <a:cubicBezTo>
                        <a:pt x="380288" y="241244"/>
                        <a:pt x="386935" y="226052"/>
                        <a:pt x="398804" y="205637"/>
                      </a:cubicBezTo>
                      <a:cubicBezTo>
                        <a:pt x="410673" y="185222"/>
                        <a:pt x="424916" y="168131"/>
                        <a:pt x="441533" y="157211"/>
                      </a:cubicBezTo>
                      <a:cubicBezTo>
                        <a:pt x="458150" y="146291"/>
                        <a:pt x="480939" y="138220"/>
                        <a:pt x="498505" y="140119"/>
                      </a:cubicBezTo>
                      <a:cubicBezTo>
                        <a:pt x="516071" y="142018"/>
                        <a:pt x="529365" y="162433"/>
                        <a:pt x="546931" y="168605"/>
                      </a:cubicBezTo>
                      <a:cubicBezTo>
                        <a:pt x="564497" y="174777"/>
                        <a:pt x="591559" y="182373"/>
                        <a:pt x="603903" y="177151"/>
                      </a:cubicBezTo>
                      <a:cubicBezTo>
                        <a:pt x="616247" y="171928"/>
                        <a:pt x="611974" y="155786"/>
                        <a:pt x="620995" y="137270"/>
                      </a:cubicBezTo>
                      <a:cubicBezTo>
                        <a:pt x="630016" y="118754"/>
                        <a:pt x="645208" y="66530"/>
                        <a:pt x="658027" y="66055"/>
                      </a:cubicBezTo>
                      <a:cubicBezTo>
                        <a:pt x="670846" y="65580"/>
                        <a:pt x="680341" y="130624"/>
                        <a:pt x="697907" y="134422"/>
                      </a:cubicBezTo>
                      <a:cubicBezTo>
                        <a:pt x="715473" y="138220"/>
                        <a:pt x="749657" y="105461"/>
                        <a:pt x="763425" y="88844"/>
                      </a:cubicBezTo>
                      <a:cubicBezTo>
                        <a:pt x="777193" y="72227"/>
                        <a:pt x="766748" y="48014"/>
                        <a:pt x="780516" y="34721"/>
                      </a:cubicBezTo>
                      <a:cubicBezTo>
                        <a:pt x="794284" y="21427"/>
                        <a:pt x="823245" y="-17504"/>
                        <a:pt x="846034" y="9083"/>
                      </a:cubicBezTo>
                      <a:cubicBezTo>
                        <a:pt x="868823" y="35670"/>
                        <a:pt x="890187" y="148189"/>
                        <a:pt x="917249" y="194242"/>
                      </a:cubicBezTo>
                      <a:cubicBezTo>
                        <a:pt x="944311" y="240294"/>
                        <a:pt x="976357" y="262846"/>
                        <a:pt x="1008404" y="285398"/>
                      </a:cubicBezTo>
                    </a:path>
                  </a:pathLst>
                </a:custGeom>
                <a:noFill/>
                <a:ln>
                  <a:solidFill>
                    <a:srgbClr val="C6605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31949170-678C-4646-A276-46493D8E1B84}"/>
                    </a:ext>
                  </a:extLst>
                </p:cNvPr>
                <p:cNvGrpSpPr/>
                <p:nvPr/>
              </p:nvGrpSpPr>
              <p:grpSpPr>
                <a:xfrm>
                  <a:off x="1449354" y="5426859"/>
                  <a:ext cx="1313403" cy="100203"/>
                  <a:chOff x="1449354" y="5357703"/>
                  <a:chExt cx="1313403" cy="100203"/>
                </a:xfrm>
              </p:grpSpPr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6F557EAC-55B7-422C-A5BC-2A1E89BD4857}"/>
                      </a:ext>
                    </a:extLst>
                  </p:cNvPr>
                  <p:cNvSpPr txBox="1"/>
                  <p:nvPr/>
                </p:nvSpPr>
                <p:spPr>
                  <a:xfrm>
                    <a:off x="2020525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12:00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CF62270B-6809-489C-9AC6-9B55BE6C08DC}"/>
                      </a:ext>
                    </a:extLst>
                  </p:cNvPr>
                  <p:cNvSpPr txBox="1"/>
                  <p:nvPr/>
                </p:nvSpPr>
                <p:spPr>
                  <a:xfrm>
                    <a:off x="2529030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23:00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88AF1512-E27F-4341-9038-D87B710AFCCB}"/>
                      </a:ext>
                    </a:extLst>
                  </p:cNvPr>
                  <p:cNvSpPr txBox="1"/>
                  <p:nvPr/>
                </p:nvSpPr>
                <p:spPr>
                  <a:xfrm>
                    <a:off x="1449354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0:00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A46F0B7A-F916-453A-A49C-15C130D11698}"/>
                  </a:ext>
                </a:extLst>
              </p:cNvPr>
              <p:cNvSpPr/>
              <p:nvPr/>
            </p:nvSpPr>
            <p:spPr>
              <a:xfrm rot="5400000">
                <a:off x="1607146" y="3597134"/>
                <a:ext cx="2849896" cy="118457"/>
              </a:xfrm>
              <a:prstGeom prst="triangle">
                <a:avLst/>
              </a:prstGeom>
              <a:solidFill>
                <a:srgbClr val="FAEE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9D3FA75-05A5-4C51-8680-FB99C78AD4B8}"/>
              </a:ext>
            </a:extLst>
          </p:cNvPr>
          <p:cNvGrpSpPr/>
          <p:nvPr/>
        </p:nvGrpSpPr>
        <p:grpSpPr>
          <a:xfrm>
            <a:off x="1869774" y="2180139"/>
            <a:ext cx="506538" cy="506538"/>
            <a:chOff x="1869774" y="2180139"/>
            <a:chExt cx="506538" cy="506538"/>
          </a:xfrm>
        </p:grpSpPr>
        <p:pic>
          <p:nvPicPr>
            <p:cNvPr id="46" name="图形 45" descr="建筑物">
              <a:extLst>
                <a:ext uri="{FF2B5EF4-FFF2-40B4-BE49-F238E27FC236}">
                  <a16:creationId xmlns:a16="http://schemas.microsoft.com/office/drawing/2014/main" id="{07F213A4-FB0D-4128-9EA4-4A490A39D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81479" y="2291844"/>
              <a:ext cx="283128" cy="283128"/>
            </a:xfrm>
            <a:prstGeom prst="rect">
              <a:avLst/>
            </a:prstGeom>
          </p:spPr>
        </p:pic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8D8F98E-EBBC-42A8-A7DA-C5153AE9B9ED}"/>
                </a:ext>
              </a:extLst>
            </p:cNvPr>
            <p:cNvSpPr/>
            <p:nvPr/>
          </p:nvSpPr>
          <p:spPr>
            <a:xfrm>
              <a:off x="1869774" y="2180139"/>
              <a:ext cx="506538" cy="506538"/>
            </a:xfrm>
            <a:prstGeom prst="ellipse">
              <a:avLst/>
            </a:prstGeom>
            <a:noFill/>
            <a:ln w="12700">
              <a:solidFill>
                <a:srgbClr val="C6605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" name="灯片编号占位符 2">
            <a:extLst>
              <a:ext uri="{FF2B5EF4-FFF2-40B4-BE49-F238E27FC236}">
                <a16:creationId xmlns:a16="http://schemas.microsoft.com/office/drawing/2014/main" id="{FA890FFE-7AFC-4D47-AC9E-F6845A444A36}"/>
              </a:ext>
            </a:extLst>
          </p:cNvPr>
          <p:cNvSpPr txBox="1">
            <a:spLocks/>
          </p:cNvSpPr>
          <p:nvPr/>
        </p:nvSpPr>
        <p:spPr>
          <a:xfrm>
            <a:off x="10831499" y="6561065"/>
            <a:ext cx="1236453" cy="2602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0D1CF50-25F9-4784-ADE2-03C7C399A73A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pPr algn="ctr">
                <a:defRPr/>
              </a:pPr>
              <a:t>3</a:t>
            </a:fld>
            <a:endParaRPr lang="zh-CN" altLang="en-US" sz="1000" dirty="0">
              <a:solidFill>
                <a:prstClr val="black">
                  <a:tint val="75000"/>
                </a:prstClr>
              </a:solidFill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2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DBBCFCE-B7E6-4CD4-B4B3-D26B00D6E1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8562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13" name="think-cell 幻灯片" r:id="rId4" imgW="416" imgH="416" progId="TCLayout.ActiveDocument.1">
                  <p:embed/>
                </p:oleObj>
              </mc:Choice>
              <mc:Fallback>
                <p:oleObj name="think-cell 幻灯片" r:id="rId4" imgW="416" imgH="41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DBBCFCE-B7E6-4CD4-B4B3-D26B00D6E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6C3DDCE7-C2B7-4952-8777-2ADDB480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95" y="189186"/>
            <a:ext cx="11394459" cy="461569"/>
          </a:xfrm>
        </p:spPr>
        <p:txBody>
          <a:bodyPr vert="horz">
            <a:no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数据中心：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从区域上看，应重点关注广东、</a:t>
            </a:r>
            <a:r>
              <a:rPr lang="zh-CN" altLang="en-US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浙江等绿色建筑示范区域；用户核心痛点在于节能、高效运维和低碳运营，建议以能源管理</a:t>
            </a:r>
            <a:r>
              <a:rPr lang="en-US" altLang="zh-CN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zh-CN" altLang="en-US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电力运维</a:t>
            </a:r>
            <a:r>
              <a:rPr lang="en-US" altLang="zh-CN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+</a:t>
            </a:r>
            <a:r>
              <a:rPr lang="zh-CN" altLang="en-US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零碳为切入点，提供“绿色楼宇</a:t>
            </a:r>
            <a:r>
              <a:rPr lang="en-US" altLang="zh-CN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/</a:t>
            </a:r>
            <a:r>
              <a:rPr lang="zh-CN" altLang="en-US" sz="1800" b="1" dirty="0">
                <a:solidFill>
                  <a:schemeClr val="accent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能碳双控解决方案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A8AF2-2528-4269-9958-D32811F915E4}"/>
              </a:ext>
            </a:extLst>
          </p:cNvPr>
          <p:cNvSpPr>
            <a:spLocks/>
          </p:cNvSpPr>
          <p:nvPr/>
        </p:nvSpPr>
        <p:spPr>
          <a:xfrm>
            <a:off x="480874" y="977480"/>
            <a:ext cx="11230253" cy="5513772"/>
          </a:xfrm>
          <a:prstGeom prst="roundRect">
            <a:avLst>
              <a:gd name="adj" fmla="val 1773"/>
            </a:avLst>
          </a:prstGeom>
          <a:noFill/>
          <a:ln w="9525">
            <a:solidFill>
              <a:srgbClr val="C6605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E201826-83E9-429C-B300-9BB48532E193}"/>
              </a:ext>
            </a:extLst>
          </p:cNvPr>
          <p:cNvSpPr/>
          <p:nvPr/>
        </p:nvSpPr>
        <p:spPr>
          <a:xfrm>
            <a:off x="596979" y="813032"/>
            <a:ext cx="312351" cy="311150"/>
          </a:xfrm>
          <a:prstGeom prst="ellipse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1C5A593-1193-4325-BD45-3C0877165C56}"/>
              </a:ext>
            </a:extLst>
          </p:cNvPr>
          <p:cNvSpPr/>
          <p:nvPr/>
        </p:nvSpPr>
        <p:spPr>
          <a:xfrm>
            <a:off x="801947" y="857474"/>
            <a:ext cx="239532" cy="23861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1DAE45C-2913-4F72-9A92-1BCF9198BFB7}"/>
              </a:ext>
            </a:extLst>
          </p:cNvPr>
          <p:cNvGrpSpPr/>
          <p:nvPr/>
        </p:nvGrpSpPr>
        <p:grpSpPr>
          <a:xfrm>
            <a:off x="631825" y="1176861"/>
            <a:ext cx="10899226" cy="5152116"/>
            <a:chOff x="631825" y="1176861"/>
            <a:chExt cx="10899226" cy="515211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1A13CFE-A8BF-4D3D-86D7-FAFE740EA19F}"/>
                </a:ext>
              </a:extLst>
            </p:cNvPr>
            <p:cNvSpPr>
              <a:spLocks/>
            </p:cNvSpPr>
            <p:nvPr/>
          </p:nvSpPr>
          <p:spPr>
            <a:xfrm>
              <a:off x="631825" y="1176861"/>
              <a:ext cx="690866" cy="726227"/>
            </a:xfrm>
            <a:prstGeom prst="rect">
              <a:avLst/>
            </a:prstGeom>
            <a:solidFill>
              <a:srgbClr val="C660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重点区域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E9E6B97-66C8-45CA-8DC8-0574CDBC8AAF}"/>
                </a:ext>
              </a:extLst>
            </p:cNvPr>
            <p:cNvSpPr>
              <a:spLocks/>
            </p:cNvSpPr>
            <p:nvPr/>
          </p:nvSpPr>
          <p:spPr>
            <a:xfrm>
              <a:off x="1476958" y="1190860"/>
              <a:ext cx="10054093" cy="342152"/>
            </a:xfrm>
            <a:prstGeom prst="rect">
              <a:avLst/>
            </a:prstGeom>
            <a:solidFill>
              <a:srgbClr val="FAE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zh-CN" sz="11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Priority 1</a:t>
              </a:r>
              <a:r>
                <a:rPr lang="zh-CN" altLang="en-US" sz="11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：广东（深圳）、浙江（杭州）、江苏</a:t>
              </a:r>
              <a:r>
                <a:rPr lang="zh-CN" altLang="en-US" sz="11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等关键限电（用能总量、用能质量）区域</a:t>
              </a:r>
              <a:endParaRPr lang="en-US" altLang="zh-CN" sz="10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C0109AF-C97E-461A-8CAF-D23F6133057A}"/>
                </a:ext>
              </a:extLst>
            </p:cNvPr>
            <p:cNvSpPr txBox="1">
              <a:spLocks/>
            </p:cNvSpPr>
            <p:nvPr/>
          </p:nvSpPr>
          <p:spPr>
            <a:xfrm>
              <a:off x="1476958" y="1604011"/>
              <a:ext cx="10054092" cy="299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zh-CN" sz="1000" b="1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Priority 2</a:t>
              </a:r>
              <a:r>
                <a:rPr lang="zh-CN" altLang="en-US" sz="1000" b="1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 北京、上海、贵州</a:t>
              </a:r>
              <a:endParaRPr lang="en-US" altLang="zh-CN" sz="10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EAAA065-98E5-4A47-BF9D-C3C1086CB77D}"/>
                </a:ext>
              </a:extLst>
            </p:cNvPr>
            <p:cNvSpPr>
              <a:spLocks/>
            </p:cNvSpPr>
            <p:nvPr/>
          </p:nvSpPr>
          <p:spPr>
            <a:xfrm>
              <a:off x="631825" y="5157047"/>
              <a:ext cx="690866" cy="1171929"/>
            </a:xfrm>
            <a:prstGeom prst="rect">
              <a:avLst/>
            </a:prstGeom>
            <a:solidFill>
              <a:srgbClr val="C660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商业模式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9A34B80-37E4-431A-B533-AFD79ADE46BA}"/>
                </a:ext>
              </a:extLst>
            </p:cNvPr>
            <p:cNvGrpSpPr/>
            <p:nvPr/>
          </p:nvGrpSpPr>
          <p:grpSpPr>
            <a:xfrm>
              <a:off x="1476956" y="5157050"/>
              <a:ext cx="9296058" cy="548514"/>
              <a:chOff x="1476956" y="5585653"/>
              <a:chExt cx="8890342" cy="298530"/>
            </a:xfrm>
          </p:grpSpPr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8EAA23F6-0DFD-4705-80B5-4A828CADA4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6956" y="5585653"/>
                <a:ext cx="1303834" cy="298530"/>
              </a:xfrm>
              <a:prstGeom prst="rect">
                <a:avLst/>
              </a:prstGeom>
              <a:solidFill>
                <a:srgbClr val="FAEE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解决方案</a:t>
                </a:r>
                <a:endParaRPr lang="en-US" altLang="zh-CN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56E620DA-56BC-4C96-A294-D1E7AF1EE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00889" y="5585653"/>
                <a:ext cx="7266409" cy="2985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300"/>
                  </a:spcBef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“能碳双控解决方案”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47DCEC5-C225-47D6-BAA2-BC959A39DFDB}"/>
                </a:ext>
              </a:extLst>
            </p:cNvPr>
            <p:cNvSpPr>
              <a:spLocks/>
            </p:cNvSpPr>
            <p:nvPr/>
          </p:nvSpPr>
          <p:spPr>
            <a:xfrm>
              <a:off x="1484640" y="5825571"/>
              <a:ext cx="1363335" cy="503406"/>
            </a:xfrm>
            <a:prstGeom prst="rect">
              <a:avLst/>
            </a:prstGeom>
            <a:solidFill>
              <a:srgbClr val="FAE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业务模式</a:t>
              </a:r>
              <a:endParaRPr lang="en-US" altLang="zh-CN" sz="1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10CA800C-1BF1-4C44-B8B2-AA1272CDD57C}"/>
                </a:ext>
              </a:extLst>
            </p:cNvPr>
            <p:cNvSpPr>
              <a:spLocks/>
            </p:cNvSpPr>
            <p:nvPr/>
          </p:nvSpPr>
          <p:spPr>
            <a:xfrm>
              <a:off x="3174998" y="5825571"/>
              <a:ext cx="7598016" cy="503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en-US" altLang="zh-CN" sz="10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9CD27976-5489-4B47-8A7D-E0ED02597FE8}"/>
                </a:ext>
              </a:extLst>
            </p:cNvPr>
            <p:cNvSpPr>
              <a:spLocks/>
            </p:cNvSpPr>
            <p:nvPr/>
          </p:nvSpPr>
          <p:spPr>
            <a:xfrm>
              <a:off x="10773014" y="5157047"/>
              <a:ext cx="758031" cy="1171929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i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Diamond</a:t>
              </a:r>
              <a:r>
                <a:rPr lang="zh-CN" altLang="en-US" sz="1100" i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项目协同</a:t>
              </a:r>
              <a:endParaRPr lang="en-US" altLang="zh-CN" sz="1100" i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AD43CBB-778F-4AC7-A92C-F85B29E12931}"/>
                </a:ext>
              </a:extLst>
            </p:cNvPr>
            <p:cNvGrpSpPr/>
            <p:nvPr/>
          </p:nvGrpSpPr>
          <p:grpSpPr>
            <a:xfrm>
              <a:off x="631825" y="1983910"/>
              <a:ext cx="10899225" cy="3097401"/>
              <a:chOff x="631825" y="2230378"/>
              <a:chExt cx="10899225" cy="285093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82F831A-BFED-43E9-9B41-0D1800E911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5264" y="2230378"/>
                <a:ext cx="1365027" cy="28498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zh-CN" altLang="en-US" sz="1000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9C530B27-CF01-4F2B-97EE-120FF1F3F0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1825" y="2230378"/>
                <a:ext cx="690866" cy="2849897"/>
              </a:xfrm>
              <a:prstGeom prst="rect">
                <a:avLst/>
              </a:prstGeom>
              <a:solidFill>
                <a:srgbClr val="C660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用户画像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AB50A214-D0CF-458C-AED4-BF9D0827D8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4999" y="2231417"/>
                <a:ext cx="8356051" cy="1588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行业概况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：集中度高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CR5~72%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，预计未来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年行业头部效应持续增强；电力服务生态相对封闭，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头部企业耗电量较大，通常有固定的合作伙伴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171450" indent="-171450">
                  <a:lnSpc>
                    <a:spcPct val="125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行业用能特点：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用电量大、电力成本高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2020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年全国数据中心耗电量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~2166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亿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kWh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占全社会用电量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~2.6%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电费支出占比全生命周期支出</a:t>
                </a:r>
                <a:r>
                  <a:rPr lang="en-US" altLang="zh-CN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~60%</a:t>
                </a: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碳排高</a:t>
                </a:r>
                <a:r>
                  <a:rPr lang="en-US" altLang="zh-CN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&amp;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强制限碳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：（工信部）到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2023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年，新建数据中心大型化，且大型及以上数据中心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PUE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Power Usage Effectiveness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）需降至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&lt;1.3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稳定性、安全性要求高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：用电负荷波动小，对于供电稳定性要求高，通常为三路供电；安全标准高，关注用能设备技术要求、消防安全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耗能环节集中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：</a:t>
                </a:r>
                <a:r>
                  <a:rPr kumimoji="0" lang="zh-CN" altLang="en-US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空调系统及</a:t>
                </a:r>
                <a:r>
                  <a:rPr kumimoji="0" lang="en-US" altLang="zh-CN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IT</a:t>
                </a:r>
                <a:r>
                  <a:rPr kumimoji="0" lang="zh-CN" altLang="en-US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设备系统耗能占比总耗能</a:t>
                </a:r>
                <a:r>
                  <a:rPr kumimoji="0" lang="en-US" altLang="zh-CN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&gt;90%</a:t>
                </a:r>
                <a:r>
                  <a:rPr kumimoji="0" lang="zh-CN" altLang="en-US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；</a:t>
                </a:r>
                <a:endParaRPr kumimoji="0" lang="en-US" altLang="zh-CN" sz="10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华文楷体" panose="02010600040101010101" pitchFamily="2" charset="-122"/>
                  <a:sym typeface="Century Gothic" panose="020B0502020202020204" pitchFamily="34" charset="0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kumimoji="0" lang="zh-CN" altLang="en-US" sz="1000" b="1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用能数字化水平高</a:t>
                </a:r>
                <a:r>
                  <a:rPr kumimoji="0" lang="zh-CN" altLang="en-US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：行业整体数字化水平高，</a:t>
                </a:r>
                <a:r>
                  <a:rPr kumimoji="0" lang="en-US" altLang="zh-CN" sz="10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EMS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软件发展较成熟，能源数字化、电力运维需求相对较弱；</a:t>
                </a:r>
                <a:endParaRPr lang="en-US" altLang="zh-CN" sz="1000" dirty="0">
                  <a:solidFill>
                    <a:prstClr val="black"/>
                  </a:solidFill>
                  <a:latin typeface="Century Gothic" panose="020B0502020202020204" pitchFamily="34" charset="0"/>
                  <a:ea typeface="华文楷体" panose="02010600040101010101" pitchFamily="2" charset="-122"/>
                  <a:sym typeface="Century Gothic" panose="020B0502020202020204" pitchFamily="34" charset="0"/>
                </a:endParaRPr>
              </a:p>
              <a:p>
                <a:pPr marL="314325" indent="-22860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u="sng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电力服务生态较封闭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：头部企业耗电量较大，一般有固定的电力合作伙伴；</a:t>
                </a:r>
                <a:endParaRPr lang="en-US" altLang="zh-CN" sz="1000" dirty="0">
                  <a:solidFill>
                    <a:prstClr val="black"/>
                  </a:solidFill>
                  <a:latin typeface="Century Gothic" panose="020B0502020202020204" pitchFamily="34" charset="0"/>
                  <a:ea typeface="华文楷体" panose="02010600040101010101" pitchFamily="2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2101161-62D5-418A-B0E3-FDB2440B1C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4999" y="3895056"/>
                <a:ext cx="8346523" cy="117753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大核心需求</a:t>
                </a:r>
                <a:r>
                  <a:rPr lang="zh-CN" altLang="en-US" sz="1000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能碳双控 </a:t>
                </a:r>
                <a:r>
                  <a:rPr lang="en-US" altLang="zh-CN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 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供电稳定性 </a:t>
                </a:r>
                <a:r>
                  <a:rPr lang="en-US" altLang="zh-CN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 </a:t>
                </a:r>
                <a:r>
                  <a:rPr lang="zh-CN" altLang="en-US" sz="1000" b="1" u="sng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安全性</a:t>
                </a:r>
                <a:endParaRPr lang="zh-CN" altLang="en-US" sz="1000" b="1" u="sng" dirty="0">
                  <a:solidFill>
                    <a:schemeClr val="accen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171450" indent="-17145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主要措施：</a:t>
                </a:r>
                <a:endParaRPr lang="en-US" altLang="zh-CN" sz="10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361950" indent="-17145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0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提升可再生能源占比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r>
                  <a:rPr lang="zh-CN" altLang="en-US" sz="1000" b="1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世纪互联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在佛山建设首个</a:t>
                </a:r>
                <a:r>
                  <a:rPr lang="zh-CN" altLang="en-US" sz="1000" b="1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储能型数据中心；</a:t>
                </a:r>
                <a:r>
                  <a:rPr kumimoji="0" lang="en-US" altLang="zh-CN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 2020 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年底，秦淮数据集团提出计划在 </a:t>
                </a:r>
                <a:r>
                  <a:rPr kumimoji="0" lang="en-US" altLang="zh-CN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2023 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年实现中国运营范围内所有新一代超大规模数据中心 </a:t>
                </a:r>
                <a:r>
                  <a:rPr kumimoji="0" lang="en-US" altLang="zh-CN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100% 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采用“可再生综合能源解决方案”，直接参与投资不少于 </a:t>
                </a:r>
                <a:r>
                  <a:rPr kumimoji="0" lang="en-US" altLang="zh-CN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2GW 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的清洁能源</a:t>
                </a:r>
                <a:endParaRPr lang="en-US" altLang="zh-CN" sz="10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华文楷体" panose="02010600040101010101" pitchFamily="2" charset="-122"/>
                  <a:sym typeface="Century Gothic" panose="020B0502020202020204" pitchFamily="34" charset="0"/>
                </a:endParaRPr>
              </a:p>
              <a:p>
                <a:pPr marL="361950" indent="-171450">
                  <a:spcBef>
                    <a:spcPts val="300"/>
                  </a:spcBef>
                  <a:buFont typeface="Wingdings" panose="05000000000000000000" pitchFamily="2" charset="2"/>
                  <a:buChar char="ü"/>
                </a:pPr>
                <a:r>
                  <a:rPr kumimoji="0" lang="zh-CN" altLang="en-US" sz="10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减碳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：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如</a:t>
                </a:r>
                <a:r>
                  <a:rPr lang="en-US" altLang="zh-CN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2022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年阿里巴巴广东河源数据中心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将实现</a:t>
                </a:r>
                <a:r>
                  <a:rPr kumimoji="0" lang="en-US" altLang="zh-CN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100% </a:t>
                </a:r>
                <a:r>
                  <a:rPr lang="zh-CN" altLang="en-US" sz="1000" dirty="0">
                    <a:solidFill>
                      <a:prstClr val="black"/>
                    </a:solidFill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使用</a:t>
                </a:r>
                <a:r>
                  <a:rPr kumimoji="0" lang="zh-CN" altLang="en-US" sz="10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华文楷体" panose="02010600040101010101" pitchFamily="2" charset="-122"/>
                    <a:sym typeface="Century Gothic" panose="020B0502020202020204" pitchFamily="34" charset="0"/>
                  </a:rPr>
                  <a:t>绿色清洁能源，成为阿里首个实现碳中和的大型数据中心</a:t>
                </a:r>
                <a:endParaRPr lang="en-US" altLang="zh-CN" sz="1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B79B0490-E4CC-4E2B-AB4B-42FDFE35F142}"/>
                  </a:ext>
                </a:extLst>
              </p:cNvPr>
              <p:cNvGrpSpPr/>
              <p:nvPr/>
            </p:nvGrpSpPr>
            <p:grpSpPr>
              <a:xfrm>
                <a:off x="1384300" y="3016126"/>
                <a:ext cx="1463675" cy="1250950"/>
                <a:chOff x="1384300" y="4276112"/>
                <a:chExt cx="1463675" cy="1250950"/>
              </a:xfrm>
            </p:grpSpPr>
            <p:grpSp>
              <p:nvGrpSpPr>
                <p:cNvPr id="3" name="组合 2">
                  <a:extLst>
                    <a:ext uri="{FF2B5EF4-FFF2-40B4-BE49-F238E27FC236}">
                      <a16:creationId xmlns:a16="http://schemas.microsoft.com/office/drawing/2014/main" id="{5F18F015-4D29-4A42-BC29-345BEC88757C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300" y="4276112"/>
                  <a:ext cx="1463675" cy="1169909"/>
                  <a:chOff x="475038" y="586179"/>
                  <a:chExt cx="4483100" cy="831647"/>
                </a:xfrm>
              </p:grpSpPr>
              <p:grpSp>
                <p:nvGrpSpPr>
                  <p:cNvPr id="77" name="组合 76">
                    <a:extLst>
                      <a:ext uri="{FF2B5EF4-FFF2-40B4-BE49-F238E27FC236}">
                        <a16:creationId xmlns:a16="http://schemas.microsoft.com/office/drawing/2014/main" id="{C48E43FA-99ED-4266-99B4-0D8B33163DEE}"/>
                      </a:ext>
                    </a:extLst>
                  </p:cNvPr>
                  <p:cNvGrpSpPr/>
                  <p:nvPr/>
                </p:nvGrpSpPr>
                <p:grpSpPr>
                  <a:xfrm>
                    <a:off x="934140" y="766105"/>
                    <a:ext cx="3607196" cy="651721"/>
                    <a:chOff x="1085398" y="2735723"/>
                    <a:chExt cx="1878246" cy="1015893"/>
                  </a:xfrm>
                </p:grpSpPr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9C9769D0-FA92-47CE-B765-58C40B13E6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085398" y="2735723"/>
                      <a:ext cx="1878246" cy="100586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00" dirty="0">
                        <a:latin typeface="Century Gothic" panose="020B0502020202020204" pitchFamily="34" charset="0"/>
                      </a:endParaRPr>
                    </a:p>
                  </p:txBody>
                </p:sp>
                <p:grpSp>
                  <p:nvGrpSpPr>
                    <p:cNvPr id="80" name="组合 79">
                      <a:extLst>
                        <a:ext uri="{FF2B5EF4-FFF2-40B4-BE49-F238E27FC236}">
                          <a16:creationId xmlns:a16="http://schemas.microsoft.com/office/drawing/2014/main" id="{F00CE7AE-5389-42A4-9F8D-FA1E166590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03024" y="2792915"/>
                      <a:ext cx="1782752" cy="958701"/>
                      <a:chOff x="3407343" y="2156059"/>
                      <a:chExt cx="4928135" cy="3195587"/>
                    </a:xfrm>
                  </p:grpSpPr>
                  <p:cxnSp>
                    <p:nvCxnSpPr>
                      <p:cNvPr id="92" name="直接连接符 91">
                        <a:extLst>
                          <a:ext uri="{FF2B5EF4-FFF2-40B4-BE49-F238E27FC236}">
                            <a16:creationId xmlns:a16="http://schemas.microsoft.com/office/drawing/2014/main" id="{D2E54F56-E549-4A1E-BC69-E9BEBB0BF4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343" y="4908884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直接连接符 92">
                        <a:extLst>
                          <a:ext uri="{FF2B5EF4-FFF2-40B4-BE49-F238E27FC236}">
                            <a16:creationId xmlns:a16="http://schemas.microsoft.com/office/drawing/2014/main" id="{30053697-094B-468F-B9F4-B2DB043FD6B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16968" y="3888606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直接连接符 93">
                        <a:extLst>
                          <a:ext uri="{FF2B5EF4-FFF2-40B4-BE49-F238E27FC236}">
                            <a16:creationId xmlns:a16="http://schemas.microsoft.com/office/drawing/2014/main" id="{38110845-F12B-4F28-AA1B-AA3438A6CA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343" y="2926080"/>
                        <a:ext cx="4918510" cy="0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直接连接符 94">
                        <a:extLst>
                          <a:ext uri="{FF2B5EF4-FFF2-40B4-BE49-F238E27FC236}">
                            <a16:creationId xmlns:a16="http://schemas.microsoft.com/office/drawing/2014/main" id="{41146AC5-EC33-4621-AF13-560C7176382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61348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直接连接符 95">
                        <a:extLst>
                          <a:ext uri="{FF2B5EF4-FFF2-40B4-BE49-F238E27FC236}">
                            <a16:creationId xmlns:a16="http://schemas.microsoft.com/office/drawing/2014/main" id="{51E3BB3C-5820-403C-A332-FB8AF941D5E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774132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直接连接符 96">
                        <a:extLst>
                          <a:ext uri="{FF2B5EF4-FFF2-40B4-BE49-F238E27FC236}">
                            <a16:creationId xmlns:a16="http://schemas.microsoft.com/office/drawing/2014/main" id="{21267D8B-59F6-4282-9A0F-A5822DE1CB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8325853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直接连接符 97">
                        <a:extLst>
                          <a:ext uri="{FF2B5EF4-FFF2-40B4-BE49-F238E27FC236}">
                            <a16:creationId xmlns:a16="http://schemas.microsoft.com/office/drawing/2014/main" id="{E8458C69-23CE-453E-B717-C83015CB6C9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305576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直接连接符 98">
                        <a:extLst>
                          <a:ext uri="{FF2B5EF4-FFF2-40B4-BE49-F238E27FC236}">
                            <a16:creationId xmlns:a16="http://schemas.microsoft.com/office/drawing/2014/main" id="{B2DBD117-8DC0-4C80-AB2E-A9BC1C423C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044667" y="2156059"/>
                        <a:ext cx="0" cy="3195587"/>
                      </a:xfrm>
                      <a:prstGeom prst="line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438B8E16-2751-43B2-A535-CA7B4ED281D4}"/>
                      </a:ext>
                    </a:extLst>
                  </p:cNvPr>
                  <p:cNvSpPr txBox="1"/>
                  <p:nvPr/>
                </p:nvSpPr>
                <p:spPr>
                  <a:xfrm>
                    <a:off x="475038" y="586179"/>
                    <a:ext cx="4483100" cy="17503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000" b="1" u="sng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日内用电负荷曲线</a:t>
                    </a: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31949170-678C-4646-A276-46493D8E1B84}"/>
                    </a:ext>
                  </a:extLst>
                </p:cNvPr>
                <p:cNvGrpSpPr/>
                <p:nvPr/>
              </p:nvGrpSpPr>
              <p:grpSpPr>
                <a:xfrm>
                  <a:off x="1449354" y="5426859"/>
                  <a:ext cx="1313403" cy="100203"/>
                  <a:chOff x="1449354" y="5357703"/>
                  <a:chExt cx="1313403" cy="100203"/>
                </a:xfrm>
              </p:grpSpPr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6F557EAC-55B7-422C-A5BC-2A1E89BD4857}"/>
                      </a:ext>
                    </a:extLst>
                  </p:cNvPr>
                  <p:cNvSpPr txBox="1"/>
                  <p:nvPr/>
                </p:nvSpPr>
                <p:spPr>
                  <a:xfrm>
                    <a:off x="2020525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12:00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CF62270B-6809-489C-9AC6-9B55BE6C08DC}"/>
                      </a:ext>
                    </a:extLst>
                  </p:cNvPr>
                  <p:cNvSpPr txBox="1"/>
                  <p:nvPr/>
                </p:nvSpPr>
                <p:spPr>
                  <a:xfrm>
                    <a:off x="2529030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23:00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88AF1512-E27F-4341-9038-D87B710AFCCB}"/>
                      </a:ext>
                    </a:extLst>
                  </p:cNvPr>
                  <p:cNvSpPr txBox="1"/>
                  <p:nvPr/>
                </p:nvSpPr>
                <p:spPr>
                  <a:xfrm>
                    <a:off x="1449354" y="5357703"/>
                    <a:ext cx="233727" cy="1002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Autofit/>
                  </a:bodyPr>
                  <a:lstStyle/>
                  <a:p>
                    <a:pPr algn="ctr"/>
                    <a:r>
                      <a:rPr lang="en-US" altLang="zh-CN" sz="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a:t>0:00</a:t>
                    </a:r>
                    <a:endParaRPr lang="zh-CN" altLang="en-US" sz="800" dirty="0"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A46F0B7A-F916-453A-A49C-15C130D11698}"/>
                  </a:ext>
                </a:extLst>
              </p:cNvPr>
              <p:cNvSpPr/>
              <p:nvPr/>
            </p:nvSpPr>
            <p:spPr>
              <a:xfrm rot="5400000">
                <a:off x="1607146" y="3597134"/>
                <a:ext cx="2849896" cy="118457"/>
              </a:xfrm>
              <a:prstGeom prst="triangle">
                <a:avLst/>
              </a:prstGeom>
              <a:solidFill>
                <a:srgbClr val="FAEE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776F7B5-BDC7-4CAD-8428-8CCA6E3BC099}"/>
              </a:ext>
            </a:extLst>
          </p:cNvPr>
          <p:cNvSpPr/>
          <p:nvPr/>
        </p:nvSpPr>
        <p:spPr>
          <a:xfrm>
            <a:off x="1588168" y="3628639"/>
            <a:ext cx="1078030" cy="81913"/>
          </a:xfrm>
          <a:custGeom>
            <a:avLst/>
            <a:gdLst>
              <a:gd name="connsiteX0" fmla="*/ 0 w 1078030"/>
              <a:gd name="connsiteY0" fmla="*/ 53024 h 81913"/>
              <a:gd name="connsiteX1" fmla="*/ 129941 w 1078030"/>
              <a:gd name="connsiteY1" fmla="*/ 9710 h 81913"/>
              <a:gd name="connsiteX2" fmla="*/ 298384 w 1078030"/>
              <a:gd name="connsiteY2" fmla="*/ 48212 h 81913"/>
              <a:gd name="connsiteX3" fmla="*/ 476451 w 1078030"/>
              <a:gd name="connsiteY3" fmla="*/ 85 h 81913"/>
              <a:gd name="connsiteX4" fmla="*/ 601579 w 1078030"/>
              <a:gd name="connsiteY4" fmla="*/ 62649 h 81913"/>
              <a:gd name="connsiteX5" fmla="*/ 779647 w 1078030"/>
              <a:gd name="connsiteY5" fmla="*/ 9710 h 81913"/>
              <a:gd name="connsiteX6" fmla="*/ 938464 w 1078030"/>
              <a:gd name="connsiteY6" fmla="*/ 81900 h 81913"/>
              <a:gd name="connsiteX7" fmla="*/ 1078030 w 1078030"/>
              <a:gd name="connsiteY7" fmla="*/ 14523 h 8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030" h="81913">
                <a:moveTo>
                  <a:pt x="0" y="53024"/>
                </a:moveTo>
                <a:cubicBezTo>
                  <a:pt x="40105" y="31768"/>
                  <a:pt x="80210" y="10512"/>
                  <a:pt x="129941" y="9710"/>
                </a:cubicBezTo>
                <a:cubicBezTo>
                  <a:pt x="179672" y="8908"/>
                  <a:pt x="240632" y="49816"/>
                  <a:pt x="298384" y="48212"/>
                </a:cubicBezTo>
                <a:cubicBezTo>
                  <a:pt x="356136" y="46608"/>
                  <a:pt x="425919" y="-2321"/>
                  <a:pt x="476451" y="85"/>
                </a:cubicBezTo>
                <a:cubicBezTo>
                  <a:pt x="526983" y="2491"/>
                  <a:pt x="551046" y="61045"/>
                  <a:pt x="601579" y="62649"/>
                </a:cubicBezTo>
                <a:cubicBezTo>
                  <a:pt x="652112" y="64253"/>
                  <a:pt x="723500" y="6502"/>
                  <a:pt x="779647" y="9710"/>
                </a:cubicBezTo>
                <a:cubicBezTo>
                  <a:pt x="835794" y="12918"/>
                  <a:pt x="888734" y="81098"/>
                  <a:pt x="938464" y="81900"/>
                </a:cubicBezTo>
                <a:cubicBezTo>
                  <a:pt x="988195" y="82702"/>
                  <a:pt x="1033112" y="48612"/>
                  <a:pt x="1078030" y="14523"/>
                </a:cubicBezTo>
              </a:path>
            </a:pathLst>
          </a:custGeom>
          <a:noFill/>
          <a:ln>
            <a:solidFill>
              <a:srgbClr val="C660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0A47495-B25F-47A6-931F-42D3570496CB}"/>
              </a:ext>
            </a:extLst>
          </p:cNvPr>
          <p:cNvSpPr/>
          <p:nvPr/>
        </p:nvSpPr>
        <p:spPr>
          <a:xfrm>
            <a:off x="1869774" y="2180139"/>
            <a:ext cx="506538" cy="506538"/>
          </a:xfrm>
          <a:prstGeom prst="ellipse">
            <a:avLst/>
          </a:prstGeom>
          <a:noFill/>
          <a:ln w="12700">
            <a:solidFill>
              <a:srgbClr val="C6605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形 22" descr="服务器">
            <a:extLst>
              <a:ext uri="{FF2B5EF4-FFF2-40B4-BE49-F238E27FC236}">
                <a16:creationId xmlns:a16="http://schemas.microsoft.com/office/drawing/2014/main" id="{BBC1D725-F298-4BF6-AE33-5413D4515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1554" y="2267215"/>
            <a:ext cx="353948" cy="353948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983F42CF-C141-4F14-A5B7-792F218832B9}"/>
              </a:ext>
            </a:extLst>
          </p:cNvPr>
          <p:cNvSpPr txBox="1"/>
          <p:nvPr/>
        </p:nvSpPr>
        <p:spPr>
          <a:xfrm>
            <a:off x="5073666" y="6562251"/>
            <a:ext cx="2860675" cy="25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*PUE=</a:t>
            </a:r>
            <a:r>
              <a:rPr lang="zh-CN" altLang="en-US" sz="10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数据中心机房总能耗</a:t>
            </a:r>
            <a:r>
              <a:rPr lang="en-US" altLang="zh-CN" sz="10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/ IT</a:t>
            </a:r>
            <a:r>
              <a:rPr lang="zh-CN" altLang="en-US" sz="10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设备系统能耗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0E00503-6403-42CD-B7AC-1C28170FD3D4}"/>
              </a:ext>
            </a:extLst>
          </p:cNvPr>
          <p:cNvSpPr txBox="1"/>
          <p:nvPr/>
        </p:nvSpPr>
        <p:spPr>
          <a:xfrm>
            <a:off x="124048" y="6502462"/>
            <a:ext cx="4813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数据来源：中国数据中心节能技术委员会、工信部、东北证券</a:t>
            </a:r>
          </a:p>
        </p:txBody>
      </p:sp>
      <p:sp>
        <p:nvSpPr>
          <p:cNvPr id="57" name="灯片编号占位符 2">
            <a:extLst>
              <a:ext uri="{FF2B5EF4-FFF2-40B4-BE49-F238E27FC236}">
                <a16:creationId xmlns:a16="http://schemas.microsoft.com/office/drawing/2014/main" id="{65AA02AA-F638-441F-97FE-143566746B0E}"/>
              </a:ext>
            </a:extLst>
          </p:cNvPr>
          <p:cNvSpPr txBox="1">
            <a:spLocks/>
          </p:cNvSpPr>
          <p:nvPr/>
        </p:nvSpPr>
        <p:spPr>
          <a:xfrm>
            <a:off x="10831499" y="6561065"/>
            <a:ext cx="1236453" cy="2602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0D1CF50-25F9-4784-ADE2-03C7C399A73A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pPr algn="ctr">
                <a:defRPr/>
              </a:pPr>
              <a:t>4</a:t>
            </a:fld>
            <a:endParaRPr lang="zh-CN" altLang="en-US" sz="1000" dirty="0">
              <a:solidFill>
                <a:prstClr val="black">
                  <a:tint val="75000"/>
                </a:prstClr>
              </a:solidFill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9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DBBCFCE-B7E6-4CD4-B4B3-D26B00D6E12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51" name="think-cell 幻灯片" r:id="rId4" imgW="416" imgH="416" progId="TCLayout.ActiveDocument.1">
                  <p:embed/>
                </p:oleObj>
              </mc:Choice>
              <mc:Fallback>
                <p:oleObj name="think-cell 幻灯片" r:id="rId4" imgW="416" imgH="41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DBBCFCE-B7E6-4CD4-B4B3-D26B00D6E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6C3DDCE7-C2B7-4952-8777-2ADDB480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95" y="189187"/>
            <a:ext cx="11394459" cy="367862"/>
          </a:xfrm>
        </p:spPr>
        <p:txBody>
          <a:bodyPr vert="horz">
            <a:no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电动</a:t>
            </a:r>
            <a:r>
              <a:rPr lang="zh-CN" altLang="en-US" sz="1800" b="1" dirty="0"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出行</a:t>
            </a:r>
            <a:r>
              <a:rPr lang="zh-CN" altLang="en-US" sz="1800" b="1" dirty="0">
                <a:solidFill>
                  <a:schemeClr val="tx1"/>
                </a:solidFill>
                <a:latin typeface="Century Gothic" panose="020B0502020202020204" pitchFamily="34" charset="0"/>
                <a:ea typeface="华文楷体" panose="02010600040101010101" pitchFamily="2" charset="-122"/>
                <a:sym typeface="Century Gothic" panose="020B0502020202020204" pitchFamily="34" charset="0"/>
              </a:rPr>
              <a:t>：</a:t>
            </a:r>
            <a:endParaRPr lang="zh-CN" altLang="en-US" sz="1800" b="1" dirty="0">
              <a:latin typeface="Century Gothic" panose="020B0502020202020204" pitchFamily="34" charset="0"/>
              <a:ea typeface="华文楷体" panose="02010600040101010101" pitchFamily="2" charset="-122"/>
              <a:sym typeface="Century Gothic" panose="020B0502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A8AF2-2528-4269-9958-D32811F915E4}"/>
              </a:ext>
            </a:extLst>
          </p:cNvPr>
          <p:cNvSpPr>
            <a:spLocks/>
          </p:cNvSpPr>
          <p:nvPr/>
        </p:nvSpPr>
        <p:spPr>
          <a:xfrm>
            <a:off x="480874" y="977480"/>
            <a:ext cx="11230253" cy="5513772"/>
          </a:xfrm>
          <a:prstGeom prst="roundRect">
            <a:avLst>
              <a:gd name="adj" fmla="val 1773"/>
            </a:avLst>
          </a:prstGeom>
          <a:noFill/>
          <a:ln w="9525">
            <a:solidFill>
              <a:srgbClr val="C6605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E201826-83E9-429C-B300-9BB48532E193}"/>
              </a:ext>
            </a:extLst>
          </p:cNvPr>
          <p:cNvSpPr/>
          <p:nvPr/>
        </p:nvSpPr>
        <p:spPr>
          <a:xfrm>
            <a:off x="596979" y="813032"/>
            <a:ext cx="312351" cy="311150"/>
          </a:xfrm>
          <a:prstGeom prst="ellipse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1C5A593-1193-4325-BD45-3C0877165C56}"/>
              </a:ext>
            </a:extLst>
          </p:cNvPr>
          <p:cNvSpPr/>
          <p:nvPr/>
        </p:nvSpPr>
        <p:spPr>
          <a:xfrm>
            <a:off x="801947" y="857474"/>
            <a:ext cx="239532" cy="23861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华文楷体" panose="02010600040101010101" pitchFamily="2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1A13CFE-A8BF-4D3D-86D7-FAFE740EA19F}"/>
              </a:ext>
            </a:extLst>
          </p:cNvPr>
          <p:cNvSpPr>
            <a:spLocks/>
          </p:cNvSpPr>
          <p:nvPr/>
        </p:nvSpPr>
        <p:spPr>
          <a:xfrm>
            <a:off x="631825" y="1069285"/>
            <a:ext cx="690866" cy="1317895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重点区域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E9E6B97-66C8-45CA-8DC8-0574CDBC8AAF}"/>
              </a:ext>
            </a:extLst>
          </p:cNvPr>
          <p:cNvSpPr>
            <a:spLocks/>
          </p:cNvSpPr>
          <p:nvPr/>
        </p:nvSpPr>
        <p:spPr>
          <a:xfrm>
            <a:off x="1476958" y="1083283"/>
            <a:ext cx="10054093" cy="993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Priority 1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江苏、浙江：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公共场站；江苏、浙江部分县域经济体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上海、北京、广东（珠三角）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C0109AF-C97E-461A-8CAF-D23F6133057A}"/>
              </a:ext>
            </a:extLst>
          </p:cNvPr>
          <p:cNvSpPr txBox="1">
            <a:spLocks/>
          </p:cNvSpPr>
          <p:nvPr/>
        </p:nvSpPr>
        <p:spPr>
          <a:xfrm>
            <a:off x="1476958" y="2140959"/>
            <a:ext cx="10054092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Priority 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天津：充电桩开展了需求响应的区域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AAA065-98E5-4A47-BF9D-C3C1086CB77D}"/>
              </a:ext>
            </a:extLst>
          </p:cNvPr>
          <p:cNvSpPr>
            <a:spLocks/>
          </p:cNvSpPr>
          <p:nvPr/>
        </p:nvSpPr>
        <p:spPr>
          <a:xfrm>
            <a:off x="631825" y="5562600"/>
            <a:ext cx="690866" cy="850900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商业模式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8EAA23F6-0DFD-4705-80B5-4A828CADA42C}"/>
              </a:ext>
            </a:extLst>
          </p:cNvPr>
          <p:cNvSpPr>
            <a:spLocks/>
          </p:cNvSpPr>
          <p:nvPr/>
        </p:nvSpPr>
        <p:spPr>
          <a:xfrm>
            <a:off x="1476956" y="5562600"/>
            <a:ext cx="1371019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6E620DA-56BC-4C96-A294-D1E7AF1EEE13}"/>
              </a:ext>
            </a:extLst>
          </p:cNvPr>
          <p:cNvSpPr>
            <a:spLocks/>
          </p:cNvSpPr>
          <p:nvPr/>
        </p:nvSpPr>
        <p:spPr>
          <a:xfrm>
            <a:off x="2933701" y="5562600"/>
            <a:ext cx="7286624" cy="383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VPP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聚合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储能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需求响应，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以节省电费为核心，优化收益结构，提高收益稳定性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47DCEC5-C225-47D6-BAA2-BC959A39DFDB}"/>
              </a:ext>
            </a:extLst>
          </p:cNvPr>
          <p:cNvSpPr>
            <a:spLocks/>
          </p:cNvSpPr>
          <p:nvPr/>
        </p:nvSpPr>
        <p:spPr>
          <a:xfrm>
            <a:off x="1476956" y="6030127"/>
            <a:ext cx="1371019" cy="383373"/>
          </a:xfrm>
          <a:prstGeom prst="rect">
            <a:avLst/>
          </a:prstGeom>
          <a:solidFill>
            <a:srgbClr val="F4D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模式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0CA800C-1BF1-4C44-B8B2-AA1272CDD57C}"/>
              </a:ext>
            </a:extLst>
          </p:cNvPr>
          <p:cNvSpPr>
            <a:spLocks/>
          </p:cNvSpPr>
          <p:nvPr/>
        </p:nvSpPr>
        <p:spPr>
          <a:xfrm>
            <a:off x="2933701" y="6030127"/>
            <a:ext cx="7286624" cy="383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自建充电桩场站的投资运营，提供电子电力系统的解决方案；自建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VPP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聚合充电桩的场站资源，配合售电和储能，参与需求响应，与用户分成；如果是自建充电桩场站，可以提高充电桩用户补贴，提高充电桩的使用率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9CD27976-5489-4B47-8A7D-E0ED02597FE8}"/>
              </a:ext>
            </a:extLst>
          </p:cNvPr>
          <p:cNvSpPr>
            <a:spLocks/>
          </p:cNvSpPr>
          <p:nvPr/>
        </p:nvSpPr>
        <p:spPr>
          <a:xfrm>
            <a:off x="10286999" y="5562600"/>
            <a:ext cx="1244047" cy="850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Diamond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项目</a:t>
            </a:r>
            <a:endParaRPr kumimoji="0" lang="en-US" altLang="zh-CN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C530B27-CF01-4F2B-97EE-120FF1F3F0B9}"/>
              </a:ext>
            </a:extLst>
          </p:cNvPr>
          <p:cNvSpPr>
            <a:spLocks/>
          </p:cNvSpPr>
          <p:nvPr/>
        </p:nvSpPr>
        <p:spPr>
          <a:xfrm>
            <a:off x="631825" y="2469617"/>
            <a:ext cx="690866" cy="2969157"/>
          </a:xfrm>
          <a:prstGeom prst="rect">
            <a:avLst/>
          </a:prstGeom>
          <a:solidFill>
            <a:srgbClr val="C66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用户画像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B50A214-D0CF-458C-AED4-BF9D0827D867}"/>
              </a:ext>
            </a:extLst>
          </p:cNvPr>
          <p:cNvSpPr>
            <a:spLocks/>
          </p:cNvSpPr>
          <p:nvPr/>
        </p:nvSpPr>
        <p:spPr>
          <a:xfrm>
            <a:off x="1476957" y="2469620"/>
            <a:ext cx="10054093" cy="1686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行业用能特点：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314325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行业集中度高：</a:t>
            </a:r>
          </a:p>
          <a:p>
            <a:pPr marL="314325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用电量特征：公用充电桩由于电价的波动，充换电服务难设计定价策略，收益波动大；收益模式单一</a:t>
            </a:r>
          </a:p>
          <a:p>
            <a:pPr marL="314325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价格目前享受单一制电价，无容量电价</a:t>
            </a:r>
          </a:p>
          <a:p>
            <a:pPr marL="314325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服务生态相对开放：中小运用商对接入第三方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SaaS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平台普遍持开放态度，如云快充</a:t>
            </a:r>
          </a:p>
          <a:p>
            <a:pPr marL="314325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直流快充桩的量在往上走，以后负荷尖峰化会越来越明显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2101161-62D5-418A-B0E3-FDB2440B1C74}"/>
              </a:ext>
            </a:extLst>
          </p:cNvPr>
          <p:cNvSpPr>
            <a:spLocks/>
          </p:cNvSpPr>
          <p:nvPr/>
        </p:nvSpPr>
        <p:spPr>
          <a:xfrm>
            <a:off x="3174999" y="4206956"/>
            <a:ext cx="8346523" cy="12508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用能核心需求：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提高补贴；提高利用率（利用率有两个维度，一个使时间的利用率，一个是功率的利用率）；稳定用电成本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主要措施：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3619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公用）不同时段定价不一样，日间价格有弹性，提高充电桩使用率，结合不同的收益点，拉平用能高峰促进“绿电发展”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3619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现有变压器容量富裕较大的位置建设，节省扩容费用，分享服务费收益（调研时特来电公司说，相比于自己申请线路接入，他们很多时候更愿意和酒店、商场、写字楼合作，在这种地方建桩，物业同意就行，项目落地效率更高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3619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利用储能削峰填谷（或基于场站的用能曲线与所在场地的用能曲线拟合，利用储能削峰填谷）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3619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提高充电效率，充电模式向快充和换点模式为主集中</a:t>
            </a:r>
          </a:p>
        </p:txBody>
      </p:sp>
      <p:sp>
        <p:nvSpPr>
          <p:cNvPr id="8" name="箭头: 左弧形 7">
            <a:extLst>
              <a:ext uri="{FF2B5EF4-FFF2-40B4-BE49-F238E27FC236}">
                <a16:creationId xmlns:a16="http://schemas.microsoft.com/office/drawing/2014/main" id="{4213AB57-F5CF-4DF6-AB6D-987000E33B76}"/>
              </a:ext>
            </a:extLst>
          </p:cNvPr>
          <p:cNvSpPr/>
          <p:nvPr/>
        </p:nvSpPr>
        <p:spPr>
          <a:xfrm>
            <a:off x="2781300" y="4631393"/>
            <a:ext cx="292100" cy="506378"/>
          </a:xfrm>
          <a:prstGeom prst="curvedRightArrow">
            <a:avLst/>
          </a:prstGeom>
          <a:solidFill>
            <a:srgbClr val="F4D8D4"/>
          </a:solidFill>
          <a:ln>
            <a:solidFill>
              <a:srgbClr val="F4D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40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81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2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6&quot;&gt;&lt;elem m_fUsage=&quot;1.72658072034223075697E+00&quot;&gt;&lt;m_msothmcolidx val=&quot;0&quot;/&gt;&lt;m_rgb r=&quot;F9&quot; g=&quot;E3&quot; b=&quot;DF&quot;/&gt;&lt;/elem&gt;&lt;elem m_fUsage=&quot;1.24077564740726531411E+00&quot;&gt;&lt;m_msothmcolidx val=&quot;0&quot;/&gt;&lt;m_rgb r=&quot;F6&quot; g=&quot;D6&quot; b=&quot;D2&quot;/&gt;&lt;/elem&gt;&lt;elem m_fUsage=&quot;1.00000000000000000000E+00&quot;&gt;&lt;m_msothmcolidx val=&quot;0&quot;/&gt;&lt;m_rgb r=&quot;FB&quot; g=&quot;EC&quot; b=&quot;E9&quot;/&gt;&lt;/elem&gt;&lt;elem m_fUsage=&quot;9.69910596090000187708E-01&quot;&gt;&lt;m_msothmcolidx val=&quot;0&quot;/&gt;&lt;m_rgb r=&quot;D8&quot; g=&quot;92&quot; b=&quot;88&quot;/&gt;&lt;/elem&gt;&lt;elem m_fUsage=&quot;8.05995893686714537374E-01&quot;&gt;&lt;m_msothmcolidx val=&quot;0&quot;/&gt;&lt;m_rgb r=&quot;EF&quot; g=&quot;B8&quot; b=&quot;B0&quot;/&gt;&lt;/elem&gt;&lt;elem m_fUsage=&quot;7.29000000000000092371E-01&quot;&gt;&lt;m_msothmcolidx val=&quot;0&quot;/&gt;&lt;m_rgb r=&quot;EB&quot; g=&quot;A6&quot; b=&quot;9D&quot;/&gt;&lt;/elem&gt;&lt;elem m_fUsage=&quot;7.03637817162627410283E-01&quot;&gt;&lt;m_msothmcolidx val=&quot;0&quot;/&gt;&lt;m_rgb r=&quot;BC&quot; g=&quot;43&quot; b=&quot;31&quot;/&gt;&lt;/elem&gt;&lt;elem m_fUsage=&quot;6.73852382279235051499E-01&quot;&gt;&lt;m_msothmcolidx val=&quot;0&quot;/&gt;&lt;m_rgb r=&quot;C6&quot; g=&quot;60&quot; b=&quot;51&quot;/&gt;&lt;/elem&gt;&lt;elem m_fUsage=&quot;5.90490000000000181402E-01&quot;&gt;&lt;m_msothmcolidx val=&quot;0&quot;/&gt;&lt;m_rgb r=&quot;C9&quot; g=&quot;68&quot; b=&quot;5B&quot;/&gt;&lt;/elem&gt;&lt;elem m_fUsage=&quot;5.31441000000000163261E-01&quot;&gt;&lt;m_msothmcolidx val=&quot;0&quot;/&gt;&lt;m_rgb r=&quot;B0&quot; g=&quot;48&quot; b=&quot;3A&quot;/&gt;&lt;/elem&gt;&lt;elem m_fUsage=&quot;4.78296900000000135833E-01&quot;&gt;&lt;m_msothmcolidx val=&quot;0&quot;/&gt;&lt;m_rgb r=&quot;87&quot; g=&quot;28&quot; b=&quot;1B&quot;/&gt;&lt;/elem&gt;&lt;elem m_fUsage=&quot;2.28767924549610118801E-01&quot;&gt;&lt;m_msothmcolidx val=&quot;0&quot;/&gt;&lt;m_rgb r=&quot;F4&quot; g=&quot;CE&quot; b=&quot;C9&quot;/&gt;&lt;/elem&gt;&lt;elem m_fUsage=&quot;1.66771816996665767086E-01&quot;&gt;&lt;m_msothmcolidx val=&quot;0&quot;/&gt;&lt;m_rgb r=&quot;9B&quot; g=&quot;2D&quot; b=&quot;1F&quot;/&gt;&lt;/elem&gt;&lt;elem m_fUsage=&quot;7.80044413550951554193E-02&quot;&gt;&lt;m_msothmcolidx val=&quot;0&quot;/&gt;&lt;m_rgb r=&quot;9D&quot; g=&quot;40&quot; b=&quot;33&quot;/&gt;&lt;/elem&gt;&lt;elem m_fUsage=&quot;7.57637775026879373153E-02&quot;&gt;&lt;m_msothmcolidx val=&quot;0&quot;/&gt;&lt;m_rgb r=&quot;DD&quot; g=&quot;DD&quot; b=&quot;DD&quot;/&gt;&lt;/elem&gt;&lt;elem m_fUsage=&quot;9.40461086986006715655E-05&quot;&gt;&lt;m_msothmcolidx val=&quot;0&quot;/&gt;&lt;m_rgb r=&quot;EE&quot; g=&quot;ED&quot; b=&quot;ED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24787</TotalTime>
  <Words>3003</Words>
  <Application>Microsoft Office PowerPoint</Application>
  <PresentationFormat>宽屏</PresentationFormat>
  <Paragraphs>154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ShellBold</vt:lpstr>
      <vt:lpstr>ShellMedium</vt:lpstr>
      <vt:lpstr>Wingdings</vt:lpstr>
      <vt:lpstr>等线</vt:lpstr>
      <vt:lpstr>华文楷体</vt:lpstr>
      <vt:lpstr>Office Theme</vt:lpstr>
      <vt:lpstr>think-cell 幻灯片</vt:lpstr>
      <vt:lpstr>钢铁行业：从区域上看，重点关注江苏、广东省内的钢铁企业/产业集群地；从商业模式上来看，在双碳&amp;市场化电价背景下，为解决钢企核心用能需求—减碳，通过与中冶系、Top钢企等体系内公司成立合资公司，以碳管理业务（计量、CCUS等）为抓手，为钢企用户提供“零碳解决方案”</vt:lpstr>
      <vt:lpstr>纺织行业：从区域上看，重点关注浙江、江苏、广东省内的纺织企业/产业园区；从商业模式上来看，在数字化&amp;能耗双控背景下，可为用户提供集分布式能源（光伏+三联供） +EMS+售电+碳管理一体的“数字化能源服务”</vt:lpstr>
      <vt:lpstr>商业建筑：从区域上看，应重点关注江苏、广东、浙江等绿色建筑示范区域；用户核心痛点在于节能、高效运维和低碳运营，建议以能源管理+电力运维+零碳为切入点，提供“绿色楼宇/能碳双控解决方案</vt:lpstr>
      <vt:lpstr>数据中心：从区域上看，应重点关注广东、浙江等绿色建筑示范区域；用户核心痛点在于节能、高效运维和低碳运营，建议以能源管理+电力运维+零碳为切入点，提供“绿色楼宇/能碳双控解决方案</vt:lpstr>
      <vt:lpstr>电动出行：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vpp (connection+ intergration) 为什么需要vpp？—— 需要一个“聚合”平台，短期可以连接分布式、光伏、充电等实现EMS功能，长期可以统一调度参与买售电力市场</dc:title>
  <dc:creator>Sun, Chen SCHINA-IGN/V</dc:creator>
  <cp:lastModifiedBy>M W</cp:lastModifiedBy>
  <cp:revision>1323</cp:revision>
  <dcterms:created xsi:type="dcterms:W3CDTF">2022-03-02T16:28:38Z</dcterms:created>
  <dcterms:modified xsi:type="dcterms:W3CDTF">2022-05-17T04:18:02Z</dcterms:modified>
</cp:coreProperties>
</file>